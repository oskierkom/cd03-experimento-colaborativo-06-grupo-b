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j2q1WoORleKQfwnN45ZRq9WHqC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20" name="Google Shape;2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41" name="Google Shape;41;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58" name="Google Shape;5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74" name="Google Shape;7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90" name="Google Shape;9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103" name="Google Shape;10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120" name="Google Shape;12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a:p>
        </p:txBody>
      </p:sp>
      <p:sp>
        <p:nvSpPr>
          <p:cNvPr id="134" name="Google Shape;13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3"/>
        </a:solidFill>
      </p:bgPr>
    </p:bg>
    <p:spTree>
      <p:nvGrpSpPr>
        <p:cNvPr id="11" name="Shape 11"/>
        <p:cNvGrpSpPr/>
        <p:nvPr/>
      </p:nvGrpSpPr>
      <p:grpSpPr>
        <a:xfrm>
          <a:off x="0" y="0"/>
          <a:ext cx="0" cy="0"/>
          <a:chOff x="0" y="0"/>
          <a:chExt cx="0" cy="0"/>
        </a:xfrm>
      </p:grpSpPr>
      <p:sp>
        <p:nvSpPr>
          <p:cNvPr id="12" name="Google Shape;12;p1"/>
          <p:cNvSpPr/>
          <p:nvPr/>
        </p:nvSpPr>
        <p:spPr>
          <a:xfrm>
            <a:off x="594360" y="749808"/>
            <a:ext cx="5486400" cy="1417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7FAFC"/>
              </a:buClr>
              <a:buSzPts val="3800"/>
              <a:buFont typeface="Arial"/>
              <a:buNone/>
            </a:pPr>
            <a:r>
              <a:rPr b="1" i="0" lang="en-US" sz="3800" u="none" cap="none" strike="noStrike">
                <a:solidFill>
                  <a:srgbClr val="F7FAFC"/>
                </a:solidFill>
                <a:latin typeface="Arial"/>
                <a:ea typeface="Arial"/>
                <a:cs typeface="Arial"/>
                <a:sym typeface="Arial"/>
              </a:rPr>
              <a:t>Experimento N° 6</a:t>
            </a:r>
            <a:endParaRPr b="0" i="0" sz="3800" u="none" cap="none" strike="noStrike">
              <a:solidFill>
                <a:schemeClr val="dk1"/>
              </a:solidFill>
              <a:latin typeface="Arial"/>
              <a:ea typeface="Arial"/>
              <a:cs typeface="Arial"/>
              <a:sym typeface="Arial"/>
            </a:endParaRPr>
          </a:p>
        </p:txBody>
      </p:sp>
      <p:sp>
        <p:nvSpPr>
          <p:cNvPr id="13" name="Google Shape;13;p1"/>
          <p:cNvSpPr/>
          <p:nvPr/>
        </p:nvSpPr>
        <p:spPr>
          <a:xfrm>
            <a:off x="612648" y="2331720"/>
            <a:ext cx="5120640" cy="62179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B8C7D9"/>
              </a:buClr>
              <a:buSzPts val="1900"/>
              <a:buFont typeface="Arial"/>
              <a:buNone/>
            </a:pPr>
            <a:r>
              <a:rPr b="0" i="0" lang="en-US" sz="1900" u="none" cap="none" strike="noStrike">
                <a:solidFill>
                  <a:srgbClr val="B8C7D9"/>
                </a:solidFill>
                <a:latin typeface="Arial"/>
                <a:ea typeface="Arial"/>
                <a:cs typeface="Arial"/>
                <a:sym typeface="Arial"/>
              </a:rPr>
              <a:t>Impacto de la reducción de la dimensionalidad con PCA.</a:t>
            </a:r>
            <a:endParaRPr b="0" i="0" sz="1900" u="none" cap="none" strike="noStrike">
              <a:solidFill>
                <a:schemeClr val="dk1"/>
              </a:solidFill>
              <a:latin typeface="Arial"/>
              <a:ea typeface="Arial"/>
              <a:cs typeface="Arial"/>
              <a:sym typeface="Arial"/>
            </a:endParaRPr>
          </a:p>
        </p:txBody>
      </p:sp>
      <p:sp>
        <p:nvSpPr>
          <p:cNvPr id="14" name="Google Shape;14;p1"/>
          <p:cNvSpPr/>
          <p:nvPr/>
        </p:nvSpPr>
        <p:spPr>
          <a:xfrm>
            <a:off x="612648" y="3200400"/>
            <a:ext cx="1280160" cy="54864"/>
          </a:xfrm>
          <a:prstGeom prst="rect">
            <a:avLst/>
          </a:prstGeom>
          <a:solidFill>
            <a:srgbClr val="2BB3A3"/>
          </a:solidFill>
          <a:ln cap="flat" cmpd="sng" w="12700">
            <a:solidFill>
              <a:srgbClr val="2BB3A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1"/>
          <p:cNvSpPr/>
          <p:nvPr/>
        </p:nvSpPr>
        <p:spPr>
          <a:xfrm>
            <a:off x="612648" y="5779008"/>
            <a:ext cx="5303520" cy="411480"/>
          </a:xfrm>
          <a:prstGeom prst="rect">
            <a:avLst/>
          </a:prstGeom>
          <a:noFill/>
          <a:ln>
            <a:noFill/>
          </a:ln>
        </p:spPr>
        <p:txBody>
          <a:bodyPr anchorCtr="0" anchor="ctr" bIns="250" lIns="250" spcFirstLastPara="1" rIns="250" wrap="square" tIns="250">
            <a:noAutofit/>
          </a:bodyPr>
          <a:lstStyle/>
          <a:p>
            <a:pPr indent="0" lvl="0" marL="0" marR="0" rtl="0" algn="l">
              <a:spcBef>
                <a:spcPts val="0"/>
              </a:spcBef>
              <a:spcAft>
                <a:spcPts val="0"/>
              </a:spcAft>
              <a:buNone/>
            </a:pPr>
            <a:r>
              <a:rPr lang="en-US" sz="1200">
                <a:solidFill>
                  <a:srgbClr val="B8C7D9"/>
                </a:solidFill>
                <a:latin typeface="Arial"/>
                <a:ea typeface="Arial"/>
                <a:cs typeface="Arial"/>
                <a:sym typeface="Arial"/>
              </a:rPr>
              <a:t>Experimento 6 · Grupo B · Alejo Escalada &amp; Myrna Oskierko · Julio 2026</a:t>
            </a:r>
            <a:endParaRPr sz="1200">
              <a:solidFill>
                <a:schemeClr val="dk1"/>
              </a:solidFill>
              <a:latin typeface="Arial"/>
              <a:ea typeface="Arial"/>
              <a:cs typeface="Arial"/>
              <a:sym typeface="Arial"/>
            </a:endParaRPr>
          </a:p>
        </p:txBody>
      </p:sp>
      <p:pic>
        <p:nvPicPr>
          <p:cNvPr descr="/mnt/data/pca_assets/fig05_pareto_ganancia_tiempo.png" id="16" name="Google Shape;16;p1"/>
          <p:cNvPicPr preferRelativeResize="0"/>
          <p:nvPr/>
        </p:nvPicPr>
        <p:blipFill rotWithShape="1">
          <a:blip r:embed="rId3">
            <a:alphaModFix/>
          </a:blip>
          <a:srcRect b="5942" l="0" r="0" t="5201"/>
          <a:stretch/>
        </p:blipFill>
        <p:spPr>
          <a:xfrm>
            <a:off x="6111242" y="1767840"/>
            <a:ext cx="5944944" cy="32816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3"/>
        </a:solidFill>
      </p:bgPr>
    </p:bg>
    <p:spTree>
      <p:nvGrpSpPr>
        <p:cNvPr id="21" name="Shape 21"/>
        <p:cNvGrpSpPr/>
        <p:nvPr/>
      </p:nvGrpSpPr>
      <p:grpSpPr>
        <a:xfrm>
          <a:off x="0" y="0"/>
          <a:ext cx="0" cy="0"/>
          <a:chOff x="0" y="0"/>
          <a:chExt cx="0" cy="0"/>
        </a:xfrm>
      </p:grpSpPr>
      <p:sp>
        <p:nvSpPr>
          <p:cNvPr id="22" name="Google Shape;22;p2"/>
          <p:cNvSpPr/>
          <p:nvPr/>
        </p:nvSpPr>
        <p:spPr>
          <a:xfrm>
            <a:off x="0" y="0"/>
            <a:ext cx="12191695" cy="640080"/>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2"/>
          <p:cNvSpPr/>
          <p:nvPr/>
        </p:nvSpPr>
        <p:spPr>
          <a:xfrm>
            <a:off x="502920" y="146304"/>
            <a:ext cx="105206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AFC"/>
              </a:buClr>
              <a:buSzPts val="2200"/>
              <a:buFont typeface="Arial"/>
              <a:buNone/>
            </a:pPr>
            <a:r>
              <a:rPr b="1" lang="en-US" sz="2200">
                <a:solidFill>
                  <a:srgbClr val="F7FAFC"/>
                </a:solidFill>
                <a:latin typeface="Arial"/>
                <a:ea typeface="Arial"/>
                <a:cs typeface="Arial"/>
                <a:sym typeface="Arial"/>
              </a:rPr>
              <a:t>La pregunta del experimento: ¿Es posible entrenar más rápido sin perder calidad?</a:t>
            </a:r>
            <a:endParaRPr sz="2200">
              <a:solidFill>
                <a:schemeClr val="dk1"/>
              </a:solidFill>
              <a:latin typeface="Arial"/>
              <a:ea typeface="Arial"/>
              <a:cs typeface="Arial"/>
              <a:sym typeface="Arial"/>
            </a:endParaRPr>
          </a:p>
        </p:txBody>
      </p:sp>
      <p:sp>
        <p:nvSpPr>
          <p:cNvPr id="24" name="Google Shape;24;p2"/>
          <p:cNvSpPr/>
          <p:nvPr/>
        </p:nvSpPr>
        <p:spPr>
          <a:xfrm>
            <a:off x="10652760" y="173736"/>
            <a:ext cx="10058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1000"/>
              <a:buFont typeface="Arial"/>
              <a:buNone/>
            </a:pPr>
            <a:r>
              <a:rPr b="1" lang="en-US" sz="1000">
                <a:solidFill>
                  <a:srgbClr val="B8C7D9"/>
                </a:solidFill>
                <a:latin typeface="Arial"/>
                <a:ea typeface="Arial"/>
                <a:cs typeface="Arial"/>
                <a:sym typeface="Arial"/>
              </a:rPr>
              <a:t>1/9</a:t>
            </a:r>
            <a:endParaRPr sz="1000">
              <a:solidFill>
                <a:schemeClr val="dk1"/>
              </a:solidFill>
              <a:latin typeface="Arial"/>
              <a:ea typeface="Arial"/>
              <a:cs typeface="Arial"/>
              <a:sym typeface="Arial"/>
            </a:endParaRPr>
          </a:p>
        </p:txBody>
      </p:sp>
      <p:sp>
        <p:nvSpPr>
          <p:cNvPr id="25" name="Google Shape;25;p2"/>
          <p:cNvSpPr/>
          <p:nvPr/>
        </p:nvSpPr>
        <p:spPr>
          <a:xfrm>
            <a:off x="685800" y="1143000"/>
            <a:ext cx="3429000" cy="1325880"/>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spcBef>
                <a:spcPts val="0"/>
              </a:spcBef>
              <a:spcAft>
                <a:spcPts val="0"/>
              </a:spcAft>
              <a:buClr>
                <a:srgbClr val="2BB3A3"/>
              </a:buClr>
              <a:buSzPts val="3000"/>
              <a:buFont typeface="Arial"/>
              <a:buNone/>
            </a:pPr>
            <a:r>
              <a:rPr b="1" lang="en-US" sz="3000">
                <a:solidFill>
                  <a:srgbClr val="2BB3A3"/>
                </a:solidFill>
                <a:latin typeface="Arial"/>
                <a:ea typeface="Arial"/>
                <a:cs typeface="Arial"/>
                <a:sym typeface="Arial"/>
              </a:rPr>
              <a:t>Hipótesis</a:t>
            </a:r>
            <a:endParaRPr b="1" sz="3000">
              <a:solidFill>
                <a:srgbClr val="2BB3A3"/>
              </a:solidFill>
            </a:endParaRPr>
          </a:p>
          <a:p>
            <a:pPr indent="0" lvl="0" marL="0" marR="0" rtl="0" algn="l">
              <a:spcBef>
                <a:spcPts val="0"/>
              </a:spcBef>
              <a:spcAft>
                <a:spcPts val="0"/>
              </a:spcAft>
              <a:buClr>
                <a:srgbClr val="2BB3A3"/>
              </a:buClr>
              <a:buSzPts val="3000"/>
              <a:buFont typeface="Arial"/>
              <a:buNone/>
            </a:pPr>
            <a:r>
              <a:t/>
            </a:r>
            <a:endParaRPr b="1" sz="400">
              <a:solidFill>
                <a:srgbClr val="2BB3A3"/>
              </a:solidFill>
            </a:endParaRPr>
          </a:p>
          <a:p>
            <a:pPr indent="0" lvl="0" marL="0" marR="0" rtl="0" algn="l">
              <a:lnSpc>
                <a:spcPct val="100000"/>
              </a:lnSpc>
              <a:spcBef>
                <a:spcPts val="0"/>
              </a:spcBef>
              <a:spcAft>
                <a:spcPts val="0"/>
              </a:spcAft>
              <a:buClr>
                <a:srgbClr val="F7FAFC"/>
              </a:buClr>
              <a:buSzPts val="1250"/>
              <a:buFont typeface="Arial"/>
              <a:buNone/>
            </a:pPr>
            <a:r>
              <a:rPr lang="en-US" sz="1150">
                <a:solidFill>
                  <a:srgbClr val="F7FAFC"/>
                </a:solidFill>
              </a:rPr>
              <a:t>H1</a:t>
            </a:r>
            <a:r>
              <a:rPr lang="en-US" sz="1150">
                <a:solidFill>
                  <a:srgbClr val="F7FAFC"/>
                </a:solidFill>
                <a:latin typeface="Arial"/>
                <a:ea typeface="Arial"/>
                <a:cs typeface="Arial"/>
                <a:sym typeface="Arial"/>
              </a:rPr>
              <a:t>: Se reduce dimensionalidad con PCA al 95% perdiendo capacidad predictiva.</a:t>
            </a:r>
            <a:endParaRPr sz="1150">
              <a:solidFill>
                <a:srgbClr val="F7FAFC"/>
              </a:solidFill>
              <a:latin typeface="Arial"/>
              <a:ea typeface="Arial"/>
              <a:cs typeface="Arial"/>
              <a:sym typeface="Arial"/>
            </a:endParaRPr>
          </a:p>
          <a:p>
            <a:pPr indent="0" lvl="0" marL="0" rtl="0" algn="l">
              <a:spcBef>
                <a:spcPts val="0"/>
              </a:spcBef>
              <a:spcAft>
                <a:spcPts val="0"/>
              </a:spcAft>
              <a:buClr>
                <a:srgbClr val="F7FAFC"/>
              </a:buClr>
              <a:buSzPts val="1250"/>
              <a:buFont typeface="Arial"/>
              <a:buNone/>
            </a:pPr>
            <a:r>
              <a:rPr lang="en-US" sz="1150">
                <a:solidFill>
                  <a:srgbClr val="F7FAFC"/>
                </a:solidFill>
              </a:rPr>
              <a:t>H1: Se reduce dimensionalidad con PCA al 95% perdiendo capacidad predictiva.</a:t>
            </a:r>
            <a:endParaRPr sz="1150">
              <a:solidFill>
                <a:srgbClr val="F7FAFC"/>
              </a:solidFill>
            </a:endParaRPr>
          </a:p>
          <a:p>
            <a:pPr indent="0" lvl="0" marL="0" marR="0" rtl="0" algn="l">
              <a:spcBef>
                <a:spcPts val="0"/>
              </a:spcBef>
              <a:spcAft>
                <a:spcPts val="0"/>
              </a:spcAft>
              <a:buClr>
                <a:srgbClr val="F7FAFC"/>
              </a:buClr>
              <a:buSzPts val="1250"/>
              <a:buFont typeface="Arial"/>
              <a:buNone/>
            </a:pPr>
            <a:r>
              <a:t/>
            </a:r>
            <a:endParaRPr sz="1250">
              <a:solidFill>
                <a:srgbClr val="F7FAFC"/>
              </a:solidFill>
            </a:endParaRPr>
          </a:p>
        </p:txBody>
      </p:sp>
      <p:sp>
        <p:nvSpPr>
          <p:cNvPr id="26" name="Google Shape;26;p2"/>
          <p:cNvSpPr/>
          <p:nvPr/>
        </p:nvSpPr>
        <p:spPr>
          <a:xfrm>
            <a:off x="4389120" y="1143000"/>
            <a:ext cx="3429000" cy="1325880"/>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lnSpc>
                <a:spcPct val="90000"/>
              </a:lnSpc>
              <a:spcBef>
                <a:spcPts val="0"/>
              </a:spcBef>
              <a:spcAft>
                <a:spcPts val="0"/>
              </a:spcAft>
              <a:buClr>
                <a:srgbClr val="F6C85F"/>
              </a:buClr>
              <a:buSzPts val="2775"/>
              <a:buFont typeface="Arial"/>
              <a:buNone/>
            </a:pPr>
            <a:r>
              <a:rPr b="1" lang="en-US" sz="2775">
                <a:solidFill>
                  <a:srgbClr val="F6C85F"/>
                </a:solidFill>
                <a:latin typeface="Arial"/>
                <a:ea typeface="Arial"/>
                <a:cs typeface="Arial"/>
                <a:sym typeface="Arial"/>
              </a:rPr>
              <a:t>Negocio</a:t>
            </a:r>
            <a:br>
              <a:rPr b="1" lang="en-US" sz="2775">
                <a:solidFill>
                  <a:srgbClr val="F6C85F"/>
                </a:solidFill>
                <a:latin typeface="Arial"/>
                <a:ea typeface="Arial"/>
                <a:cs typeface="Arial"/>
                <a:sym typeface="Arial"/>
              </a:rPr>
            </a:br>
            <a:endParaRPr sz="2775">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F7FAFC"/>
              </a:buClr>
              <a:buSzPts val="1156"/>
              <a:buFont typeface="Arial"/>
              <a:buNone/>
            </a:pPr>
            <a:r>
              <a:rPr lang="en-US" sz="1156">
                <a:solidFill>
                  <a:srgbClr val="F7FAFC"/>
                </a:solidFill>
                <a:latin typeface="Arial"/>
                <a:ea typeface="Arial"/>
                <a:cs typeface="Arial"/>
                <a:sym typeface="Arial"/>
              </a:rPr>
              <a:t>Implementar esta metodología, ¿Permite ganar mas dinero? Mejorando las predicciones o reduciendo el costo computacional</a:t>
            </a:r>
            <a:endParaRPr sz="2775">
              <a:solidFill>
                <a:schemeClr val="dk1"/>
              </a:solidFill>
              <a:latin typeface="Arial"/>
              <a:ea typeface="Arial"/>
              <a:cs typeface="Arial"/>
              <a:sym typeface="Arial"/>
            </a:endParaRPr>
          </a:p>
        </p:txBody>
      </p:sp>
      <p:sp>
        <p:nvSpPr>
          <p:cNvPr id="27" name="Google Shape;27;p2"/>
          <p:cNvSpPr/>
          <p:nvPr/>
        </p:nvSpPr>
        <p:spPr>
          <a:xfrm>
            <a:off x="8092440" y="1143000"/>
            <a:ext cx="3429000" cy="1325880"/>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spcBef>
                <a:spcPts val="0"/>
              </a:spcBef>
              <a:spcAft>
                <a:spcPts val="0"/>
              </a:spcAft>
              <a:buClr>
                <a:srgbClr val="F26D5B"/>
              </a:buClr>
              <a:buSzPts val="3000"/>
              <a:buFont typeface="Arial"/>
              <a:buNone/>
            </a:pPr>
            <a:r>
              <a:rPr b="1" lang="en-US" sz="3000">
                <a:solidFill>
                  <a:srgbClr val="F26D5B"/>
                </a:solidFill>
                <a:latin typeface="Arial"/>
                <a:ea typeface="Arial"/>
                <a:cs typeface="Arial"/>
                <a:sym typeface="Arial"/>
              </a:rPr>
              <a:t>Costo</a:t>
            </a:r>
            <a:br>
              <a:rPr b="1" lang="en-US" sz="3000">
                <a:solidFill>
                  <a:srgbClr val="F26D5B"/>
                </a:solidFill>
                <a:latin typeface="Arial"/>
                <a:ea typeface="Arial"/>
                <a:cs typeface="Arial"/>
                <a:sym typeface="Arial"/>
              </a:rPr>
            </a:br>
            <a:endParaRPr sz="3000">
              <a:solidFill>
                <a:schemeClr val="dk1"/>
              </a:solidFill>
              <a:latin typeface="Arial"/>
              <a:ea typeface="Arial"/>
              <a:cs typeface="Arial"/>
              <a:sym typeface="Arial"/>
            </a:endParaRPr>
          </a:p>
          <a:p>
            <a:pPr indent="0" lvl="0" marL="0" marR="0" rtl="0" algn="l">
              <a:spcBef>
                <a:spcPts val="0"/>
              </a:spcBef>
              <a:spcAft>
                <a:spcPts val="0"/>
              </a:spcAft>
              <a:buClr>
                <a:srgbClr val="F7FAFC"/>
              </a:buClr>
              <a:buSzPts val="1250"/>
              <a:buFont typeface="Arial"/>
              <a:buNone/>
            </a:pPr>
            <a:r>
              <a:rPr lang="en-US" sz="1250">
                <a:solidFill>
                  <a:srgbClr val="F7FAFC"/>
                </a:solidFill>
                <a:latin typeface="Arial"/>
                <a:ea typeface="Arial"/>
                <a:cs typeface="Arial"/>
                <a:sym typeface="Arial"/>
              </a:rPr>
              <a:t>Tiempos de corrida y cantidad de envíos.</a:t>
            </a:r>
            <a:endParaRPr sz="3000">
              <a:solidFill>
                <a:schemeClr val="dk1"/>
              </a:solidFill>
              <a:latin typeface="Arial"/>
              <a:ea typeface="Arial"/>
              <a:cs typeface="Arial"/>
              <a:sym typeface="Arial"/>
            </a:endParaRPr>
          </a:p>
        </p:txBody>
      </p:sp>
      <p:sp>
        <p:nvSpPr>
          <p:cNvPr id="28" name="Google Shape;28;p2"/>
          <p:cNvSpPr/>
          <p:nvPr/>
        </p:nvSpPr>
        <p:spPr>
          <a:xfrm>
            <a:off x="685800" y="3154680"/>
            <a:ext cx="10698480" cy="914400"/>
          </a:xfrm>
          <a:prstGeom prst="rect">
            <a:avLst/>
          </a:prstGeom>
          <a:noFill/>
          <a:ln>
            <a:noFill/>
          </a:ln>
        </p:spPr>
        <p:txBody>
          <a:bodyPr anchorCtr="0" anchor="ctr" bIns="375" lIns="375" spcFirstLastPara="1" rIns="375" wrap="square" tIns="375">
            <a:normAutofit/>
          </a:bodyPr>
          <a:lstStyle/>
          <a:p>
            <a:pPr indent="0" lvl="0" marL="0" marR="0" rtl="0" algn="ctr">
              <a:spcBef>
                <a:spcPts val="0"/>
              </a:spcBef>
              <a:spcAft>
                <a:spcPts val="0"/>
              </a:spcAft>
              <a:buClr>
                <a:srgbClr val="F7FAFC"/>
              </a:buClr>
              <a:buSzPts val="2400"/>
              <a:buFont typeface="Arial"/>
              <a:buNone/>
            </a:pPr>
            <a:r>
              <a:rPr b="1" lang="en-US" sz="2400">
                <a:solidFill>
                  <a:srgbClr val="F7FAFC"/>
                </a:solidFill>
                <a:latin typeface="Arial"/>
                <a:ea typeface="Arial"/>
                <a:cs typeface="Arial"/>
                <a:sym typeface="Arial"/>
              </a:rPr>
              <a:t>La idea inicial: Si PCA conserva la información del dataset, ¿Podria correr con menos variables, y a su vez, lograr una pérdida de ganancia baja o nula?</a:t>
            </a:r>
            <a:endParaRPr sz="2400">
              <a:solidFill>
                <a:schemeClr val="dk1"/>
              </a:solidFill>
              <a:latin typeface="Arial"/>
              <a:ea typeface="Arial"/>
              <a:cs typeface="Arial"/>
              <a:sym typeface="Arial"/>
            </a:endParaRPr>
          </a:p>
        </p:txBody>
      </p:sp>
      <p:sp>
        <p:nvSpPr>
          <p:cNvPr id="29" name="Google Shape;29;p2"/>
          <p:cNvSpPr/>
          <p:nvPr/>
        </p:nvSpPr>
        <p:spPr>
          <a:xfrm>
            <a:off x="1005840" y="4754880"/>
            <a:ext cx="2331720" cy="822960"/>
          </a:xfrm>
          <a:prstGeom prst="rect">
            <a:avLst/>
          </a:prstGeom>
          <a:solidFill>
            <a:srgbClr val="FFFFFF"/>
          </a:solidFill>
          <a:ln cap="flat" cmpd="sng" w="9525">
            <a:solidFill>
              <a:srgbClr val="D9E2EC"/>
            </a:solidFill>
            <a:prstDash val="solid"/>
            <a:round/>
            <a:headEnd len="sm" w="sm" type="none"/>
            <a:tailEnd len="sm" w="sm" type="none"/>
          </a:ln>
        </p:spPr>
        <p:txBody>
          <a:bodyPr anchorCtr="0" anchor="ctr" bIns="1125" lIns="1125" spcFirstLastPara="1" rIns="1125" wrap="square" tIns="1125">
            <a:normAutofit/>
          </a:bodyPr>
          <a:lstStyle/>
          <a:p>
            <a:pPr indent="0" lvl="0" marL="0" marR="0" rtl="0" algn="ctr">
              <a:spcBef>
                <a:spcPts val="0"/>
              </a:spcBef>
              <a:spcAft>
                <a:spcPts val="0"/>
              </a:spcAft>
              <a:buClr>
                <a:srgbClr val="172B4D"/>
              </a:buClr>
              <a:buSzPts val="1500"/>
              <a:buFont typeface="Arial"/>
              <a:buNone/>
            </a:pPr>
            <a:r>
              <a:rPr b="1" lang="en-US" sz="1500">
                <a:solidFill>
                  <a:srgbClr val="172B4D"/>
                </a:solidFill>
                <a:latin typeface="Arial"/>
                <a:ea typeface="Arial"/>
                <a:cs typeface="Arial"/>
                <a:sym typeface="Arial"/>
              </a:rPr>
              <a:t>Datos</a:t>
            </a:r>
            <a:br>
              <a:rPr b="1" lang="en-US" sz="1500">
                <a:solidFill>
                  <a:srgbClr val="172B4D"/>
                </a:solidFill>
                <a:latin typeface="Arial"/>
                <a:ea typeface="Arial"/>
                <a:cs typeface="Arial"/>
                <a:sym typeface="Arial"/>
              </a:rPr>
            </a:br>
            <a:endParaRPr/>
          </a:p>
          <a:p>
            <a:pPr indent="0" lvl="0" marL="0" marR="0" rtl="0" algn="ctr">
              <a:spcBef>
                <a:spcPts val="0"/>
              </a:spcBef>
              <a:spcAft>
                <a:spcPts val="0"/>
              </a:spcAft>
              <a:buClr>
                <a:srgbClr val="5E6C84"/>
              </a:buClr>
              <a:buSzPts val="1100"/>
              <a:buFont typeface="Arial"/>
              <a:buNone/>
            </a:pPr>
            <a:r>
              <a:rPr lang="en-US" sz="1100">
                <a:solidFill>
                  <a:srgbClr val="5E6C84"/>
                </a:solidFill>
                <a:latin typeface="Arial"/>
                <a:ea typeface="Arial"/>
                <a:cs typeface="Arial"/>
                <a:sym typeface="Arial"/>
              </a:rPr>
              <a:t>Contemplando julio</a:t>
            </a:r>
            <a:endParaRPr sz="1500">
              <a:solidFill>
                <a:schemeClr val="dk1"/>
              </a:solidFill>
              <a:latin typeface="Arial"/>
              <a:ea typeface="Arial"/>
              <a:cs typeface="Arial"/>
              <a:sym typeface="Arial"/>
            </a:endParaRPr>
          </a:p>
        </p:txBody>
      </p:sp>
      <p:sp>
        <p:nvSpPr>
          <p:cNvPr id="30" name="Google Shape;30;p2"/>
          <p:cNvSpPr/>
          <p:nvPr/>
        </p:nvSpPr>
        <p:spPr>
          <a:xfrm>
            <a:off x="3392424" y="5001768"/>
            <a:ext cx="16459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5C9E"/>
              </a:buClr>
              <a:buSzPts val="1400"/>
              <a:buFont typeface="Arial"/>
              <a:buNone/>
            </a:pPr>
            <a:r>
              <a:rPr lang="en-US" sz="1400">
                <a:solidFill>
                  <a:srgbClr val="145C9E"/>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31" name="Google Shape;31;p2"/>
          <p:cNvSpPr/>
          <p:nvPr/>
        </p:nvSpPr>
        <p:spPr>
          <a:xfrm>
            <a:off x="3611880" y="4754880"/>
            <a:ext cx="2331720" cy="822960"/>
          </a:xfrm>
          <a:prstGeom prst="rect">
            <a:avLst/>
          </a:prstGeom>
          <a:solidFill>
            <a:srgbClr val="FFFFFF"/>
          </a:solidFill>
          <a:ln cap="flat" cmpd="sng" w="9525">
            <a:solidFill>
              <a:srgbClr val="D9E2EC"/>
            </a:solidFill>
            <a:prstDash val="solid"/>
            <a:round/>
            <a:headEnd len="sm" w="sm" type="none"/>
            <a:tailEnd len="sm" w="sm" type="none"/>
          </a:ln>
        </p:spPr>
        <p:txBody>
          <a:bodyPr anchorCtr="0" anchor="ctr" bIns="1125" lIns="1125" spcFirstLastPara="1" rIns="1125" wrap="square" tIns="1125">
            <a:normAutofit/>
          </a:bodyPr>
          <a:lstStyle/>
          <a:p>
            <a:pPr indent="0" lvl="0" marL="0" marR="0" rtl="0" algn="ctr">
              <a:spcBef>
                <a:spcPts val="0"/>
              </a:spcBef>
              <a:spcAft>
                <a:spcPts val="0"/>
              </a:spcAft>
              <a:buClr>
                <a:srgbClr val="172B4D"/>
              </a:buClr>
              <a:buSzPts val="1500"/>
              <a:buFont typeface="Arial"/>
              <a:buNone/>
            </a:pPr>
            <a:r>
              <a:rPr b="1" lang="en-US" sz="1500">
                <a:solidFill>
                  <a:srgbClr val="172B4D"/>
                </a:solidFill>
                <a:latin typeface="Arial"/>
                <a:ea typeface="Arial"/>
                <a:cs typeface="Arial"/>
                <a:sym typeface="Arial"/>
              </a:rPr>
              <a:t>PCA</a:t>
            </a:r>
            <a:br>
              <a:rPr b="1" lang="en-US" sz="1500">
                <a:solidFill>
                  <a:srgbClr val="172B4D"/>
                </a:solidFill>
                <a:latin typeface="Arial"/>
                <a:ea typeface="Arial"/>
                <a:cs typeface="Arial"/>
                <a:sym typeface="Arial"/>
              </a:rPr>
            </a:br>
            <a:endParaRPr/>
          </a:p>
          <a:p>
            <a:pPr indent="0" lvl="0" marL="0" marR="0" rtl="0" algn="ctr">
              <a:spcBef>
                <a:spcPts val="0"/>
              </a:spcBef>
              <a:spcAft>
                <a:spcPts val="0"/>
              </a:spcAft>
              <a:buClr>
                <a:srgbClr val="5E6C84"/>
              </a:buClr>
              <a:buSzPts val="1100"/>
              <a:buFont typeface="Arial"/>
              <a:buNone/>
            </a:pPr>
            <a:r>
              <a:rPr lang="en-US" sz="1100">
                <a:solidFill>
                  <a:srgbClr val="5E6C84"/>
                </a:solidFill>
                <a:latin typeface="Arial"/>
                <a:ea typeface="Arial"/>
                <a:cs typeface="Arial"/>
                <a:sym typeface="Arial"/>
              </a:rPr>
              <a:t>Reducción de dimensionalidad</a:t>
            </a:r>
            <a:endParaRPr sz="1500">
              <a:solidFill>
                <a:schemeClr val="dk1"/>
              </a:solidFill>
              <a:latin typeface="Arial"/>
              <a:ea typeface="Arial"/>
              <a:cs typeface="Arial"/>
              <a:sym typeface="Arial"/>
            </a:endParaRPr>
          </a:p>
        </p:txBody>
      </p:sp>
      <p:sp>
        <p:nvSpPr>
          <p:cNvPr id="32" name="Google Shape;32;p2"/>
          <p:cNvSpPr/>
          <p:nvPr/>
        </p:nvSpPr>
        <p:spPr>
          <a:xfrm>
            <a:off x="5998464" y="5001768"/>
            <a:ext cx="16459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5C9E"/>
              </a:buClr>
              <a:buSzPts val="1400"/>
              <a:buFont typeface="Arial"/>
              <a:buNone/>
            </a:pPr>
            <a:r>
              <a:rPr lang="en-US" sz="1400">
                <a:solidFill>
                  <a:srgbClr val="145C9E"/>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33" name="Google Shape;33;p2"/>
          <p:cNvSpPr/>
          <p:nvPr/>
        </p:nvSpPr>
        <p:spPr>
          <a:xfrm>
            <a:off x="6217920" y="4754880"/>
            <a:ext cx="2331720" cy="822960"/>
          </a:xfrm>
          <a:prstGeom prst="rect">
            <a:avLst/>
          </a:prstGeom>
          <a:solidFill>
            <a:srgbClr val="FFFFFF"/>
          </a:solidFill>
          <a:ln cap="flat" cmpd="sng" w="9525">
            <a:solidFill>
              <a:srgbClr val="D9E2EC"/>
            </a:solidFill>
            <a:prstDash val="solid"/>
            <a:round/>
            <a:headEnd len="sm" w="sm" type="none"/>
            <a:tailEnd len="sm" w="sm" type="none"/>
          </a:ln>
        </p:spPr>
        <p:txBody>
          <a:bodyPr anchorCtr="0" anchor="ctr" bIns="1125" lIns="1125" spcFirstLastPara="1" rIns="1125" wrap="square" tIns="1125">
            <a:normAutofit/>
          </a:bodyPr>
          <a:lstStyle/>
          <a:p>
            <a:pPr indent="0" lvl="0" marL="0" marR="0" rtl="0" algn="ctr">
              <a:spcBef>
                <a:spcPts val="0"/>
              </a:spcBef>
              <a:spcAft>
                <a:spcPts val="0"/>
              </a:spcAft>
              <a:buClr>
                <a:srgbClr val="172B4D"/>
              </a:buClr>
              <a:buSzPts val="1500"/>
              <a:buFont typeface="Arial"/>
              <a:buNone/>
            </a:pPr>
            <a:r>
              <a:rPr b="1" lang="en-US" sz="1500">
                <a:solidFill>
                  <a:srgbClr val="172B4D"/>
                </a:solidFill>
                <a:latin typeface="Arial"/>
                <a:ea typeface="Arial"/>
                <a:cs typeface="Arial"/>
                <a:sym typeface="Arial"/>
              </a:rPr>
              <a:t>LightGBM</a:t>
            </a:r>
            <a:br>
              <a:rPr b="1" lang="en-US" sz="1500">
                <a:solidFill>
                  <a:srgbClr val="172B4D"/>
                </a:solidFill>
                <a:latin typeface="Arial"/>
                <a:ea typeface="Arial"/>
                <a:cs typeface="Arial"/>
                <a:sym typeface="Arial"/>
              </a:rPr>
            </a:br>
            <a:endParaRPr/>
          </a:p>
          <a:p>
            <a:pPr indent="0" lvl="0" marL="0" marR="0" rtl="0" algn="ctr">
              <a:spcBef>
                <a:spcPts val="0"/>
              </a:spcBef>
              <a:spcAft>
                <a:spcPts val="0"/>
              </a:spcAft>
              <a:buClr>
                <a:srgbClr val="5E6C84"/>
              </a:buClr>
              <a:buSzPts val="1100"/>
              <a:buFont typeface="Arial"/>
              <a:buNone/>
            </a:pPr>
            <a:r>
              <a:rPr lang="en-US" sz="1100">
                <a:solidFill>
                  <a:srgbClr val="5E6C84"/>
                </a:solidFill>
                <a:latin typeface="Arial"/>
                <a:ea typeface="Arial"/>
                <a:cs typeface="Arial"/>
                <a:sym typeface="Arial"/>
              </a:rPr>
              <a:t>Entrenamiento del modelo</a:t>
            </a:r>
            <a:endParaRPr sz="1500">
              <a:solidFill>
                <a:schemeClr val="dk1"/>
              </a:solidFill>
              <a:latin typeface="Arial"/>
              <a:ea typeface="Arial"/>
              <a:cs typeface="Arial"/>
              <a:sym typeface="Arial"/>
            </a:endParaRPr>
          </a:p>
        </p:txBody>
      </p:sp>
      <p:sp>
        <p:nvSpPr>
          <p:cNvPr id="34" name="Google Shape;34;p2"/>
          <p:cNvSpPr/>
          <p:nvPr/>
        </p:nvSpPr>
        <p:spPr>
          <a:xfrm>
            <a:off x="8604504" y="5001768"/>
            <a:ext cx="16459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5C9E"/>
              </a:buClr>
              <a:buSzPts val="1400"/>
              <a:buFont typeface="Arial"/>
              <a:buNone/>
            </a:pPr>
            <a:r>
              <a:rPr lang="en-US" sz="1400">
                <a:solidFill>
                  <a:srgbClr val="145C9E"/>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35" name="Google Shape;35;p2"/>
          <p:cNvSpPr/>
          <p:nvPr/>
        </p:nvSpPr>
        <p:spPr>
          <a:xfrm>
            <a:off x="8823960" y="4754880"/>
            <a:ext cx="2331720" cy="822960"/>
          </a:xfrm>
          <a:prstGeom prst="rect">
            <a:avLst/>
          </a:prstGeom>
          <a:solidFill>
            <a:srgbClr val="FFFFFF"/>
          </a:solidFill>
          <a:ln cap="flat" cmpd="sng" w="9525">
            <a:solidFill>
              <a:srgbClr val="D9E2EC"/>
            </a:solidFill>
            <a:prstDash val="solid"/>
            <a:round/>
            <a:headEnd len="sm" w="sm" type="none"/>
            <a:tailEnd len="sm" w="sm" type="none"/>
          </a:ln>
        </p:spPr>
        <p:txBody>
          <a:bodyPr anchorCtr="0" anchor="ctr" bIns="1125" lIns="1125" spcFirstLastPara="1" rIns="1125" wrap="square" tIns="1125">
            <a:normAutofit/>
          </a:bodyPr>
          <a:lstStyle/>
          <a:p>
            <a:pPr indent="0" lvl="0" marL="0" marR="0" rtl="0" algn="ctr">
              <a:spcBef>
                <a:spcPts val="0"/>
              </a:spcBef>
              <a:spcAft>
                <a:spcPts val="0"/>
              </a:spcAft>
              <a:buClr>
                <a:srgbClr val="172B4D"/>
              </a:buClr>
              <a:buSzPts val="1500"/>
              <a:buFont typeface="Arial"/>
              <a:buNone/>
            </a:pPr>
            <a:r>
              <a:rPr b="1" lang="en-US" sz="1500">
                <a:solidFill>
                  <a:srgbClr val="172B4D"/>
                </a:solidFill>
                <a:latin typeface="Arial"/>
                <a:ea typeface="Arial"/>
                <a:cs typeface="Arial"/>
                <a:sym typeface="Arial"/>
              </a:rPr>
              <a:t>Evaluación</a:t>
            </a:r>
            <a:br>
              <a:rPr b="1" lang="en-US" sz="1500">
                <a:solidFill>
                  <a:srgbClr val="172B4D"/>
                </a:solidFill>
                <a:latin typeface="Arial"/>
                <a:ea typeface="Arial"/>
                <a:cs typeface="Arial"/>
                <a:sym typeface="Arial"/>
              </a:rPr>
            </a:br>
            <a:endParaRPr/>
          </a:p>
          <a:p>
            <a:pPr indent="0" lvl="0" marL="0" marR="0" rtl="0" algn="ctr">
              <a:spcBef>
                <a:spcPts val="0"/>
              </a:spcBef>
              <a:spcAft>
                <a:spcPts val="0"/>
              </a:spcAft>
              <a:buClr>
                <a:srgbClr val="5E6C84"/>
              </a:buClr>
              <a:buSzPts val="1100"/>
              <a:buFont typeface="Arial"/>
              <a:buNone/>
            </a:pPr>
            <a:r>
              <a:rPr lang="en-US" sz="1100">
                <a:solidFill>
                  <a:srgbClr val="5E6C84"/>
                </a:solidFill>
                <a:latin typeface="Arial"/>
                <a:ea typeface="Arial"/>
                <a:cs typeface="Arial"/>
                <a:sym typeface="Arial"/>
              </a:rPr>
              <a:t>Ganancia final vs tiempo de ejecución</a:t>
            </a:r>
            <a:endParaRPr sz="1500">
              <a:solidFill>
                <a:schemeClr val="dk1"/>
              </a:solidFill>
              <a:latin typeface="Arial"/>
              <a:ea typeface="Arial"/>
              <a:cs typeface="Arial"/>
              <a:sym typeface="Arial"/>
            </a:endParaRPr>
          </a:p>
        </p:txBody>
      </p:sp>
      <p:sp>
        <p:nvSpPr>
          <p:cNvPr id="36" name="Google Shape;36;p2"/>
          <p:cNvSpPr/>
          <p:nvPr/>
        </p:nvSpPr>
        <p:spPr>
          <a:xfrm>
            <a:off x="0" y="6547104"/>
            <a:ext cx="12191695" cy="310896"/>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 name="Google Shape;37;p2"/>
          <p:cNvSpPr/>
          <p:nvPr/>
        </p:nvSpPr>
        <p:spPr>
          <a:xfrm>
            <a:off x="11384280" y="6601968"/>
            <a:ext cx="320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800"/>
              <a:buFont typeface="Arial"/>
              <a:buNone/>
            </a:pPr>
            <a:r>
              <a:rPr lang="en-US" sz="800">
                <a:solidFill>
                  <a:srgbClr val="B8C7D9"/>
                </a:solidFill>
                <a:latin typeface="Arial"/>
                <a:ea typeface="Arial"/>
                <a:cs typeface="Arial"/>
                <a:sym typeface="Arial"/>
              </a:rPr>
              <a:t>1</a:t>
            </a:r>
            <a:endParaRPr sz="8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3"/>
        </a:solidFill>
      </p:bgPr>
    </p:bg>
    <p:spTree>
      <p:nvGrpSpPr>
        <p:cNvPr id="42" name="Shape 42"/>
        <p:cNvGrpSpPr/>
        <p:nvPr/>
      </p:nvGrpSpPr>
      <p:grpSpPr>
        <a:xfrm>
          <a:off x="0" y="0"/>
          <a:ext cx="0" cy="0"/>
          <a:chOff x="0" y="0"/>
          <a:chExt cx="0" cy="0"/>
        </a:xfrm>
      </p:grpSpPr>
      <p:sp>
        <p:nvSpPr>
          <p:cNvPr id="43" name="Google Shape;43;p3"/>
          <p:cNvSpPr/>
          <p:nvPr/>
        </p:nvSpPr>
        <p:spPr>
          <a:xfrm>
            <a:off x="0" y="0"/>
            <a:ext cx="12191695" cy="640080"/>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3"/>
          <p:cNvSpPr/>
          <p:nvPr/>
        </p:nvSpPr>
        <p:spPr>
          <a:xfrm>
            <a:off x="502920" y="146304"/>
            <a:ext cx="9966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AFC"/>
              </a:buClr>
              <a:buSzPts val="2200"/>
              <a:buFont typeface="Arial"/>
              <a:buNone/>
            </a:pPr>
            <a:r>
              <a:rPr b="1" lang="en-US" sz="2200">
                <a:solidFill>
                  <a:srgbClr val="F7FAFC"/>
                </a:solidFill>
                <a:latin typeface="Arial"/>
                <a:ea typeface="Arial"/>
                <a:cs typeface="Arial"/>
                <a:sym typeface="Arial"/>
              </a:rPr>
              <a:t>Diseño experimental</a:t>
            </a:r>
            <a:endParaRPr sz="2200">
              <a:solidFill>
                <a:schemeClr val="dk1"/>
              </a:solidFill>
              <a:latin typeface="Arial"/>
              <a:ea typeface="Arial"/>
              <a:cs typeface="Arial"/>
              <a:sym typeface="Arial"/>
            </a:endParaRPr>
          </a:p>
        </p:txBody>
      </p:sp>
      <p:sp>
        <p:nvSpPr>
          <p:cNvPr id="45" name="Google Shape;45;p3"/>
          <p:cNvSpPr/>
          <p:nvPr/>
        </p:nvSpPr>
        <p:spPr>
          <a:xfrm>
            <a:off x="10652760" y="173736"/>
            <a:ext cx="10058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1000"/>
              <a:buFont typeface="Arial"/>
              <a:buNone/>
            </a:pPr>
            <a:r>
              <a:rPr b="1" lang="en-US" sz="1000">
                <a:solidFill>
                  <a:srgbClr val="B8C7D9"/>
                </a:solidFill>
                <a:latin typeface="Arial"/>
                <a:ea typeface="Arial"/>
                <a:cs typeface="Arial"/>
                <a:sym typeface="Arial"/>
              </a:rPr>
              <a:t>2/9</a:t>
            </a:r>
            <a:endParaRPr sz="1000">
              <a:solidFill>
                <a:schemeClr val="dk1"/>
              </a:solidFill>
              <a:latin typeface="Arial"/>
              <a:ea typeface="Arial"/>
              <a:cs typeface="Arial"/>
              <a:sym typeface="Arial"/>
            </a:endParaRPr>
          </a:p>
        </p:txBody>
      </p:sp>
      <p:sp>
        <p:nvSpPr>
          <p:cNvPr id="46" name="Google Shape;46;p3"/>
          <p:cNvSpPr/>
          <p:nvPr/>
        </p:nvSpPr>
        <p:spPr>
          <a:xfrm>
            <a:off x="777240" y="1143000"/>
            <a:ext cx="2308860" cy="1417320"/>
          </a:xfrm>
          <a:prstGeom prst="rect">
            <a:avLst/>
          </a:prstGeom>
          <a:solidFill>
            <a:srgbClr val="EAF2FB"/>
          </a:solidFill>
          <a:ln cap="flat" cmpd="sng" w="9525">
            <a:solidFill>
              <a:srgbClr val="DDE4EA"/>
            </a:solidFill>
            <a:prstDash val="solid"/>
            <a:round/>
            <a:headEnd len="sm" w="sm" type="none"/>
            <a:tailEnd len="sm" w="sm" type="none"/>
          </a:ln>
        </p:spPr>
        <p:txBody>
          <a:bodyPr anchorCtr="0" anchor="ctr" bIns="1500" lIns="1500" spcFirstLastPara="1" rIns="1500" wrap="square" tIns="1500">
            <a:normAutofit/>
          </a:bodyPr>
          <a:lstStyle/>
          <a:p>
            <a:pPr indent="0" lvl="0" marL="0" marR="0" rtl="0" algn="l">
              <a:spcBef>
                <a:spcPts val="0"/>
              </a:spcBef>
              <a:spcAft>
                <a:spcPts val="0"/>
              </a:spcAft>
              <a:buClr>
                <a:srgbClr val="172B4D"/>
              </a:buClr>
              <a:buSzPts val="1600"/>
              <a:buFont typeface="Arial"/>
              <a:buNone/>
            </a:pPr>
            <a:r>
              <a:rPr b="1" lang="en-US" sz="1600">
                <a:solidFill>
                  <a:srgbClr val="172B4D"/>
                </a:solidFill>
                <a:latin typeface="Arial"/>
                <a:ea typeface="Arial"/>
                <a:cs typeface="Arial"/>
                <a:sym typeface="Arial"/>
              </a:rPr>
              <a:t>Original sin FE</a:t>
            </a:r>
            <a:br>
              <a:rPr b="1" lang="en-US" sz="1600">
                <a:solidFill>
                  <a:srgbClr val="172B4D"/>
                </a:solidFill>
                <a:latin typeface="Arial"/>
                <a:ea typeface="Arial"/>
                <a:cs typeface="Arial"/>
                <a:sym typeface="Arial"/>
              </a:rPr>
            </a:br>
            <a:endParaRPr sz="1600">
              <a:solidFill>
                <a:schemeClr val="dk1"/>
              </a:solidFill>
              <a:latin typeface="Arial"/>
              <a:ea typeface="Arial"/>
              <a:cs typeface="Arial"/>
              <a:sym typeface="Arial"/>
            </a:endParaRPr>
          </a:p>
          <a:p>
            <a:pPr indent="0" lvl="0" marL="0" marR="0" rtl="0" algn="l">
              <a:spcBef>
                <a:spcPts val="0"/>
              </a:spcBef>
              <a:spcAft>
                <a:spcPts val="0"/>
              </a:spcAft>
              <a:buClr>
                <a:srgbClr val="5E6C84"/>
              </a:buClr>
              <a:buSzPts val="1300"/>
              <a:buFont typeface="Arial"/>
              <a:buNone/>
            </a:pPr>
            <a:r>
              <a:rPr lang="en-US" sz="1300">
                <a:solidFill>
                  <a:srgbClr val="5E6C84"/>
                </a:solidFill>
                <a:latin typeface="Arial"/>
                <a:ea typeface="Arial"/>
                <a:cs typeface="Arial"/>
                <a:sym typeface="Arial"/>
              </a:rPr>
              <a:t>Baseline limpio</a:t>
            </a:r>
            <a:endParaRPr sz="1600">
              <a:solidFill>
                <a:schemeClr val="dk1"/>
              </a:solidFill>
              <a:latin typeface="Arial"/>
              <a:ea typeface="Arial"/>
              <a:cs typeface="Arial"/>
              <a:sym typeface="Arial"/>
            </a:endParaRPr>
          </a:p>
        </p:txBody>
      </p:sp>
      <p:sp>
        <p:nvSpPr>
          <p:cNvPr id="47" name="Google Shape;47;p3"/>
          <p:cNvSpPr/>
          <p:nvPr/>
        </p:nvSpPr>
        <p:spPr>
          <a:xfrm>
            <a:off x="3223260" y="1143000"/>
            <a:ext cx="2308860" cy="1417320"/>
          </a:xfrm>
          <a:prstGeom prst="rect">
            <a:avLst/>
          </a:prstGeom>
          <a:solidFill>
            <a:srgbClr val="FBE9EC"/>
          </a:solidFill>
          <a:ln cap="flat" cmpd="sng" w="9525">
            <a:solidFill>
              <a:srgbClr val="DDE4EA"/>
            </a:solidFill>
            <a:prstDash val="solid"/>
            <a:round/>
            <a:headEnd len="sm" w="sm" type="none"/>
            <a:tailEnd len="sm" w="sm" type="none"/>
          </a:ln>
        </p:spPr>
        <p:txBody>
          <a:bodyPr anchorCtr="0" anchor="ctr" bIns="1500" lIns="1500" spcFirstLastPara="1" rIns="1500" wrap="square" tIns="1500">
            <a:normAutofit/>
          </a:bodyPr>
          <a:lstStyle/>
          <a:p>
            <a:pPr indent="0" lvl="0" marL="0" marR="0" rtl="0" algn="l">
              <a:spcBef>
                <a:spcPts val="0"/>
              </a:spcBef>
              <a:spcAft>
                <a:spcPts val="0"/>
              </a:spcAft>
              <a:buClr>
                <a:srgbClr val="172B4D"/>
              </a:buClr>
              <a:buSzPts val="1600"/>
              <a:buFont typeface="Arial"/>
              <a:buNone/>
            </a:pPr>
            <a:r>
              <a:rPr b="1" lang="en-US" sz="1600">
                <a:solidFill>
                  <a:srgbClr val="172B4D"/>
                </a:solidFill>
                <a:latin typeface="Arial"/>
                <a:ea typeface="Arial"/>
                <a:cs typeface="Arial"/>
                <a:sym typeface="Arial"/>
              </a:rPr>
              <a:t>PCA sin FE</a:t>
            </a:r>
            <a:br>
              <a:rPr b="1" lang="en-US" sz="1600">
                <a:solidFill>
                  <a:srgbClr val="172B4D"/>
                </a:solidFill>
                <a:latin typeface="Arial"/>
                <a:ea typeface="Arial"/>
                <a:cs typeface="Arial"/>
                <a:sym typeface="Arial"/>
              </a:rPr>
            </a:br>
            <a:endParaRPr sz="1600">
              <a:solidFill>
                <a:schemeClr val="dk1"/>
              </a:solidFill>
              <a:latin typeface="Arial"/>
              <a:ea typeface="Arial"/>
              <a:cs typeface="Arial"/>
              <a:sym typeface="Arial"/>
            </a:endParaRPr>
          </a:p>
          <a:p>
            <a:pPr indent="0" lvl="0" marL="0" marR="0" rtl="0" algn="l">
              <a:spcBef>
                <a:spcPts val="0"/>
              </a:spcBef>
              <a:spcAft>
                <a:spcPts val="0"/>
              </a:spcAft>
              <a:buClr>
                <a:srgbClr val="5E6C84"/>
              </a:buClr>
              <a:buSzPts val="1300"/>
              <a:buFont typeface="Arial"/>
              <a:buNone/>
            </a:pPr>
            <a:r>
              <a:rPr lang="en-US" sz="1300">
                <a:solidFill>
                  <a:srgbClr val="5E6C84"/>
                </a:solidFill>
                <a:latin typeface="Arial"/>
                <a:ea typeface="Arial"/>
                <a:cs typeface="Arial"/>
                <a:sym typeface="Arial"/>
              </a:rPr>
              <a:t>PCA 95%</a:t>
            </a:r>
            <a:endParaRPr/>
          </a:p>
          <a:p>
            <a:pPr indent="0" lvl="0" marL="0" marR="0" rtl="0" algn="l">
              <a:spcBef>
                <a:spcPts val="0"/>
              </a:spcBef>
              <a:spcAft>
                <a:spcPts val="0"/>
              </a:spcAft>
              <a:buClr>
                <a:srgbClr val="5E6C84"/>
              </a:buClr>
              <a:buSzPts val="1300"/>
              <a:buFont typeface="Arial"/>
              <a:buNone/>
            </a:pPr>
            <a:r>
              <a:rPr lang="en-US" sz="1300">
                <a:solidFill>
                  <a:srgbClr val="5E6C84"/>
                </a:solidFill>
                <a:latin typeface="Arial"/>
                <a:ea typeface="Arial"/>
                <a:cs typeface="Arial"/>
                <a:sym typeface="Arial"/>
              </a:rPr>
              <a:t>Tratamiento de NA’s</a:t>
            </a:r>
            <a:endParaRPr sz="1600">
              <a:solidFill>
                <a:schemeClr val="dk1"/>
              </a:solidFill>
              <a:latin typeface="Arial"/>
              <a:ea typeface="Arial"/>
              <a:cs typeface="Arial"/>
              <a:sym typeface="Arial"/>
            </a:endParaRPr>
          </a:p>
        </p:txBody>
      </p:sp>
      <p:sp>
        <p:nvSpPr>
          <p:cNvPr id="48" name="Google Shape;48;p3"/>
          <p:cNvSpPr/>
          <p:nvPr/>
        </p:nvSpPr>
        <p:spPr>
          <a:xfrm>
            <a:off x="777240" y="2697480"/>
            <a:ext cx="2308860" cy="1417320"/>
          </a:xfrm>
          <a:prstGeom prst="rect">
            <a:avLst/>
          </a:prstGeom>
          <a:solidFill>
            <a:srgbClr val="E7F6F2"/>
          </a:solidFill>
          <a:ln cap="flat" cmpd="sng" w="9525">
            <a:solidFill>
              <a:srgbClr val="DDE4EA"/>
            </a:solidFill>
            <a:prstDash val="solid"/>
            <a:round/>
            <a:headEnd len="sm" w="sm" type="none"/>
            <a:tailEnd len="sm" w="sm" type="none"/>
          </a:ln>
        </p:spPr>
        <p:txBody>
          <a:bodyPr anchorCtr="0" anchor="ctr" bIns="1500" lIns="1500" spcFirstLastPara="1" rIns="1500" wrap="square" tIns="1500">
            <a:normAutofit/>
          </a:bodyPr>
          <a:lstStyle/>
          <a:p>
            <a:pPr indent="0" lvl="0" marL="0" marR="0" rtl="0" algn="l">
              <a:spcBef>
                <a:spcPts val="0"/>
              </a:spcBef>
              <a:spcAft>
                <a:spcPts val="0"/>
              </a:spcAft>
              <a:buClr>
                <a:srgbClr val="172B4D"/>
              </a:buClr>
              <a:buSzPts val="1600"/>
              <a:buFont typeface="Arial"/>
              <a:buNone/>
            </a:pPr>
            <a:r>
              <a:rPr b="1" lang="en-US" sz="1600">
                <a:solidFill>
                  <a:srgbClr val="172B4D"/>
                </a:solidFill>
                <a:latin typeface="Arial"/>
                <a:ea typeface="Arial"/>
                <a:cs typeface="Arial"/>
                <a:sym typeface="Arial"/>
              </a:rPr>
              <a:t>Original con FE</a:t>
            </a:r>
            <a:br>
              <a:rPr b="1" lang="en-US" sz="1600">
                <a:solidFill>
                  <a:srgbClr val="172B4D"/>
                </a:solidFill>
                <a:latin typeface="Arial"/>
                <a:ea typeface="Arial"/>
                <a:cs typeface="Arial"/>
                <a:sym typeface="Arial"/>
              </a:rPr>
            </a:br>
            <a:endParaRPr sz="1600">
              <a:solidFill>
                <a:schemeClr val="dk1"/>
              </a:solidFill>
              <a:latin typeface="Arial"/>
              <a:ea typeface="Arial"/>
              <a:cs typeface="Arial"/>
              <a:sym typeface="Arial"/>
            </a:endParaRPr>
          </a:p>
          <a:p>
            <a:pPr indent="0" lvl="0" marL="0" marR="0" rtl="0" algn="l">
              <a:spcBef>
                <a:spcPts val="0"/>
              </a:spcBef>
              <a:spcAft>
                <a:spcPts val="0"/>
              </a:spcAft>
              <a:buNone/>
            </a:pPr>
            <a:r>
              <a:rPr lang="en-US" sz="1300">
                <a:solidFill>
                  <a:srgbClr val="5E6C84"/>
                </a:solidFill>
                <a:latin typeface="Arial"/>
                <a:ea typeface="Arial"/>
                <a:cs typeface="Arial"/>
                <a:sym typeface="Arial"/>
              </a:rPr>
              <a:t>Baseline limpio</a:t>
            </a:r>
            <a:endParaRPr sz="1600">
              <a:solidFill>
                <a:schemeClr val="dk1"/>
              </a:solidFill>
              <a:latin typeface="Arial"/>
              <a:ea typeface="Arial"/>
              <a:cs typeface="Arial"/>
              <a:sym typeface="Arial"/>
            </a:endParaRPr>
          </a:p>
          <a:p>
            <a:pPr indent="0" lvl="0" marL="0" marR="0" rtl="0" algn="l">
              <a:spcBef>
                <a:spcPts val="0"/>
              </a:spcBef>
              <a:spcAft>
                <a:spcPts val="0"/>
              </a:spcAft>
              <a:buClr>
                <a:srgbClr val="5E6C84"/>
              </a:buClr>
              <a:buSzPts val="1300"/>
              <a:buFont typeface="Arial"/>
              <a:buNone/>
            </a:pPr>
            <a:r>
              <a:rPr lang="en-US" sz="1300">
                <a:solidFill>
                  <a:srgbClr val="5E6C84"/>
                </a:solidFill>
                <a:latin typeface="Arial"/>
                <a:ea typeface="Arial"/>
                <a:cs typeface="Arial"/>
                <a:sym typeface="Arial"/>
              </a:rPr>
              <a:t>Variables enriquecidas</a:t>
            </a:r>
            <a:endParaRPr sz="1600">
              <a:solidFill>
                <a:schemeClr val="dk1"/>
              </a:solidFill>
              <a:latin typeface="Arial"/>
              <a:ea typeface="Arial"/>
              <a:cs typeface="Arial"/>
              <a:sym typeface="Arial"/>
            </a:endParaRPr>
          </a:p>
        </p:txBody>
      </p:sp>
      <p:sp>
        <p:nvSpPr>
          <p:cNvPr id="49" name="Google Shape;49;p3"/>
          <p:cNvSpPr/>
          <p:nvPr/>
        </p:nvSpPr>
        <p:spPr>
          <a:xfrm>
            <a:off x="3223260" y="2697480"/>
            <a:ext cx="2308860" cy="1417320"/>
          </a:xfrm>
          <a:prstGeom prst="rect">
            <a:avLst/>
          </a:prstGeom>
          <a:solidFill>
            <a:srgbClr val="FBE9EC"/>
          </a:solidFill>
          <a:ln cap="flat" cmpd="sng" w="9525">
            <a:solidFill>
              <a:srgbClr val="DDE4EA"/>
            </a:solidFill>
            <a:prstDash val="solid"/>
            <a:round/>
            <a:headEnd len="sm" w="sm" type="none"/>
            <a:tailEnd len="sm" w="sm" type="none"/>
          </a:ln>
        </p:spPr>
        <p:txBody>
          <a:bodyPr anchorCtr="0" anchor="ctr" bIns="1500" lIns="1500" spcFirstLastPara="1" rIns="1500" wrap="square" tIns="1500">
            <a:normAutofit/>
          </a:bodyPr>
          <a:lstStyle/>
          <a:p>
            <a:pPr indent="0" lvl="0" marL="0" marR="0" rtl="0" algn="l">
              <a:spcBef>
                <a:spcPts val="0"/>
              </a:spcBef>
              <a:spcAft>
                <a:spcPts val="0"/>
              </a:spcAft>
              <a:buClr>
                <a:srgbClr val="172B4D"/>
              </a:buClr>
              <a:buSzPts val="1600"/>
              <a:buFont typeface="Arial"/>
              <a:buNone/>
            </a:pPr>
            <a:r>
              <a:rPr b="1" lang="en-US" sz="1600">
                <a:solidFill>
                  <a:srgbClr val="172B4D"/>
                </a:solidFill>
                <a:latin typeface="Arial"/>
                <a:ea typeface="Arial"/>
                <a:cs typeface="Arial"/>
                <a:sym typeface="Arial"/>
              </a:rPr>
              <a:t>PCA con FE</a:t>
            </a:r>
            <a:br>
              <a:rPr b="1" lang="en-US" sz="1600">
                <a:solidFill>
                  <a:srgbClr val="172B4D"/>
                </a:solidFill>
                <a:latin typeface="Arial"/>
                <a:ea typeface="Arial"/>
                <a:cs typeface="Arial"/>
                <a:sym typeface="Arial"/>
              </a:rPr>
            </a:br>
            <a:endParaRPr sz="1600">
              <a:solidFill>
                <a:schemeClr val="dk1"/>
              </a:solidFill>
              <a:latin typeface="Arial"/>
              <a:ea typeface="Arial"/>
              <a:cs typeface="Arial"/>
              <a:sym typeface="Arial"/>
            </a:endParaRPr>
          </a:p>
          <a:p>
            <a:pPr indent="0" lvl="0" marL="0" marR="0" rtl="0" algn="l">
              <a:spcBef>
                <a:spcPts val="0"/>
              </a:spcBef>
              <a:spcAft>
                <a:spcPts val="0"/>
              </a:spcAft>
              <a:buClr>
                <a:srgbClr val="5E6C84"/>
              </a:buClr>
              <a:buSzPts val="1300"/>
              <a:buFont typeface="Arial"/>
              <a:buNone/>
            </a:pPr>
            <a:r>
              <a:rPr lang="en-US" sz="1300">
                <a:solidFill>
                  <a:srgbClr val="5E6C84"/>
                </a:solidFill>
                <a:latin typeface="Arial"/>
                <a:ea typeface="Arial"/>
                <a:cs typeface="Arial"/>
                <a:sym typeface="Arial"/>
              </a:rPr>
              <a:t>FE + PCA 95%</a:t>
            </a:r>
            <a:endParaRPr/>
          </a:p>
          <a:p>
            <a:pPr indent="0" lvl="0" marL="0" marR="0" rtl="0" algn="l">
              <a:spcBef>
                <a:spcPts val="0"/>
              </a:spcBef>
              <a:spcAft>
                <a:spcPts val="0"/>
              </a:spcAft>
              <a:buClr>
                <a:srgbClr val="5E6C84"/>
              </a:buClr>
              <a:buSzPts val="1300"/>
              <a:buFont typeface="Arial"/>
              <a:buNone/>
            </a:pPr>
            <a:r>
              <a:rPr lang="en-US" sz="1300">
                <a:solidFill>
                  <a:srgbClr val="5E6C84"/>
                </a:solidFill>
                <a:latin typeface="Arial"/>
                <a:ea typeface="Arial"/>
                <a:cs typeface="Arial"/>
                <a:sym typeface="Arial"/>
              </a:rPr>
              <a:t>Tratamiento de NA’s</a:t>
            </a:r>
            <a:endParaRPr/>
          </a:p>
          <a:p>
            <a:pPr indent="0" lvl="0" marL="0" marR="0" rtl="0" algn="l">
              <a:spcBef>
                <a:spcPts val="0"/>
              </a:spcBef>
              <a:spcAft>
                <a:spcPts val="0"/>
              </a:spcAft>
              <a:buClr>
                <a:schemeClr val="dk1"/>
              </a:buClr>
              <a:buSzPts val="1600"/>
              <a:buFont typeface="Arial"/>
              <a:buNone/>
            </a:pPr>
            <a:r>
              <a:t/>
            </a:r>
            <a:endParaRPr sz="1600">
              <a:solidFill>
                <a:schemeClr val="dk1"/>
              </a:solidFill>
              <a:latin typeface="Arial"/>
              <a:ea typeface="Arial"/>
              <a:cs typeface="Arial"/>
              <a:sym typeface="Arial"/>
            </a:endParaRPr>
          </a:p>
        </p:txBody>
      </p:sp>
      <p:sp>
        <p:nvSpPr>
          <p:cNvPr id="50" name="Google Shape;50;p3"/>
          <p:cNvSpPr/>
          <p:nvPr/>
        </p:nvSpPr>
        <p:spPr>
          <a:xfrm>
            <a:off x="5943600" y="1143000"/>
            <a:ext cx="5181600" cy="1371600"/>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lnSpc>
                <a:spcPct val="90000"/>
              </a:lnSpc>
              <a:spcBef>
                <a:spcPts val="0"/>
              </a:spcBef>
              <a:spcAft>
                <a:spcPts val="0"/>
              </a:spcAft>
              <a:buClr>
                <a:srgbClr val="2BB3A3"/>
              </a:buClr>
              <a:buSzPts val="2775"/>
              <a:buFont typeface="Arial"/>
              <a:buNone/>
            </a:pPr>
            <a:r>
              <a:rPr b="1" lang="en-US" sz="2775">
                <a:solidFill>
                  <a:srgbClr val="2BB3A3"/>
                </a:solidFill>
                <a:latin typeface="Arial"/>
                <a:ea typeface="Arial"/>
                <a:cs typeface="Arial"/>
                <a:sym typeface="Arial"/>
              </a:rPr>
              <a:t>3 Escenarios</a:t>
            </a:r>
            <a:br>
              <a:rPr b="1" lang="en-US" sz="2775">
                <a:solidFill>
                  <a:srgbClr val="2BB3A3"/>
                </a:solidFill>
                <a:latin typeface="Arial"/>
                <a:ea typeface="Arial"/>
                <a:cs typeface="Arial"/>
                <a:sym typeface="Arial"/>
              </a:rPr>
            </a:br>
            <a:endParaRPr/>
          </a:p>
          <a:p>
            <a:pPr indent="-285750" lvl="0" marL="285750" marR="0" rtl="0" algn="l">
              <a:lnSpc>
                <a:spcPct val="90000"/>
              </a:lnSpc>
              <a:spcBef>
                <a:spcPts val="0"/>
              </a:spcBef>
              <a:spcAft>
                <a:spcPts val="0"/>
              </a:spcAft>
              <a:buClr>
                <a:srgbClr val="F7FAFC"/>
              </a:buClr>
              <a:buSzPts val="1156"/>
              <a:buFont typeface="Arial"/>
              <a:buChar char="•"/>
            </a:pPr>
            <a:r>
              <a:rPr lang="en-US" sz="1156">
                <a:solidFill>
                  <a:srgbClr val="F7FAFC"/>
                </a:solidFill>
                <a:latin typeface="Arial"/>
                <a:ea typeface="Arial"/>
                <a:cs typeface="Arial"/>
                <a:sym typeface="Arial"/>
              </a:rPr>
              <a:t>Workflow con PCA vs Original sin Feature Engineering </a:t>
            </a:r>
            <a:endParaRPr/>
          </a:p>
          <a:p>
            <a:pPr indent="-285750" lvl="0" marL="285750" marR="0" rtl="0" algn="l">
              <a:lnSpc>
                <a:spcPct val="90000"/>
              </a:lnSpc>
              <a:spcBef>
                <a:spcPts val="0"/>
              </a:spcBef>
              <a:spcAft>
                <a:spcPts val="0"/>
              </a:spcAft>
              <a:buClr>
                <a:srgbClr val="F7FAFC"/>
              </a:buClr>
              <a:buSzPts val="1156"/>
              <a:buFont typeface="Arial"/>
              <a:buChar char="•"/>
            </a:pPr>
            <a:r>
              <a:rPr lang="en-US" sz="1156">
                <a:solidFill>
                  <a:srgbClr val="F7FAFC"/>
                </a:solidFill>
                <a:latin typeface="Arial"/>
                <a:ea typeface="Arial"/>
                <a:cs typeface="Arial"/>
                <a:sym typeface="Arial"/>
              </a:rPr>
              <a:t>Workflow con PCA vs Original con Feature Engineering</a:t>
            </a:r>
            <a:endParaRPr/>
          </a:p>
          <a:p>
            <a:pPr indent="-285750" lvl="0" marL="285750" marR="0" rtl="0" algn="l">
              <a:lnSpc>
                <a:spcPct val="90000"/>
              </a:lnSpc>
              <a:spcBef>
                <a:spcPts val="0"/>
              </a:spcBef>
              <a:spcAft>
                <a:spcPts val="0"/>
              </a:spcAft>
              <a:buClr>
                <a:srgbClr val="F7FAFC"/>
              </a:buClr>
              <a:buSzPts val="1156"/>
              <a:buFont typeface="Arial"/>
              <a:buChar char="•"/>
            </a:pPr>
            <a:r>
              <a:rPr lang="en-US" sz="1156">
                <a:solidFill>
                  <a:srgbClr val="F7FAFC"/>
                </a:solidFill>
                <a:latin typeface="Arial"/>
                <a:ea typeface="Arial"/>
                <a:cs typeface="Arial"/>
                <a:sym typeface="Arial"/>
              </a:rPr>
              <a:t>Workflow con PCA analizando distintos valores de variabilidad</a:t>
            </a:r>
            <a:endParaRPr sz="2775">
              <a:solidFill>
                <a:schemeClr val="dk1"/>
              </a:solidFill>
              <a:latin typeface="Arial"/>
              <a:ea typeface="Arial"/>
              <a:cs typeface="Arial"/>
              <a:sym typeface="Arial"/>
            </a:endParaRPr>
          </a:p>
        </p:txBody>
      </p:sp>
      <p:sp>
        <p:nvSpPr>
          <p:cNvPr id="51" name="Google Shape;51;p3"/>
          <p:cNvSpPr/>
          <p:nvPr/>
        </p:nvSpPr>
        <p:spPr>
          <a:xfrm>
            <a:off x="5943600" y="3223260"/>
            <a:ext cx="5425440" cy="1938528"/>
          </a:xfrm>
          <a:prstGeom prst="rect">
            <a:avLst/>
          </a:prstGeom>
          <a:noFill/>
          <a:ln>
            <a:noFill/>
          </a:ln>
        </p:spPr>
        <p:txBody>
          <a:bodyPr anchorCtr="0" anchor="ctr" bIns="375" lIns="375" spcFirstLastPara="1" rIns="375" wrap="square" tIns="375">
            <a:normAutofit/>
          </a:bodyPr>
          <a:lstStyle/>
          <a:p>
            <a:pPr indent="0" lvl="0" marL="0" marR="0" rtl="0" algn="l">
              <a:spcBef>
                <a:spcPts val="0"/>
              </a:spcBef>
              <a:spcAft>
                <a:spcPts val="0"/>
              </a:spcAft>
              <a:buClr>
                <a:srgbClr val="F7FAFC"/>
              </a:buClr>
              <a:buSzPts val="1900"/>
              <a:buFont typeface="Arial"/>
              <a:buNone/>
            </a:pPr>
            <a:r>
              <a:rPr lang="en-US" sz="1900">
                <a:solidFill>
                  <a:srgbClr val="F7FAFC"/>
                </a:solidFill>
                <a:latin typeface="Arial"/>
                <a:ea typeface="Arial"/>
                <a:cs typeface="Arial"/>
                <a:sym typeface="Arial"/>
              </a:rPr>
              <a:t>Se comparó la implementación de PCA con la ejecucion del workflow original tanto sin Feature Engineering como con Feature Engineering. Adicionalmente, se analizaron distintos conjuntos de varianzas para determiner si existe un optimo de sacrificio de ganancia vs beneficio computacional</a:t>
            </a:r>
            <a:endParaRPr sz="1900">
              <a:solidFill>
                <a:schemeClr val="dk1"/>
              </a:solidFill>
              <a:latin typeface="Arial"/>
              <a:ea typeface="Arial"/>
              <a:cs typeface="Arial"/>
              <a:sym typeface="Arial"/>
            </a:endParaRPr>
          </a:p>
        </p:txBody>
      </p:sp>
      <p:sp>
        <p:nvSpPr>
          <p:cNvPr id="52" name="Google Shape;52;p3"/>
          <p:cNvSpPr/>
          <p:nvPr/>
        </p:nvSpPr>
        <p:spPr>
          <a:xfrm>
            <a:off x="777240" y="4421124"/>
            <a:ext cx="4754880" cy="1293876"/>
          </a:xfrm>
          <a:prstGeom prst="rect">
            <a:avLst/>
          </a:prstGeom>
          <a:solidFill>
            <a:srgbClr val="E4F7F4"/>
          </a:solidFill>
          <a:ln cap="flat" cmpd="sng" w="9525">
            <a:solidFill>
              <a:srgbClr val="E4F7F4"/>
            </a:solidFill>
            <a:prstDash val="solid"/>
            <a:round/>
            <a:headEnd len="sm" w="sm" type="none"/>
            <a:tailEnd len="sm" w="sm" type="none"/>
          </a:ln>
        </p:spPr>
        <p:txBody>
          <a:bodyPr anchorCtr="0" anchor="ctr" bIns="375" lIns="375" spcFirstLastPara="1" rIns="375" wrap="square" tIns="375">
            <a:normAutofit/>
          </a:bodyPr>
          <a:lstStyle/>
          <a:p>
            <a:pPr indent="0" lvl="0" marL="0" marR="0" rtl="0" algn="ctr">
              <a:spcBef>
                <a:spcPts val="0"/>
              </a:spcBef>
              <a:spcAft>
                <a:spcPts val="0"/>
              </a:spcAft>
              <a:buClr>
                <a:srgbClr val="172B4D"/>
              </a:buClr>
              <a:buSzPts val="1600"/>
              <a:buFont typeface="Arial"/>
              <a:buNone/>
            </a:pPr>
            <a:r>
              <a:rPr b="1" lang="en-US" sz="1600">
                <a:solidFill>
                  <a:srgbClr val="172B4D"/>
                </a:solidFill>
                <a:latin typeface="Arial"/>
                <a:ea typeface="Arial"/>
                <a:cs typeface="Arial"/>
                <a:sym typeface="Arial"/>
              </a:rPr>
              <a:t>PCA con distintas varianzas</a:t>
            </a:r>
            <a:endParaRPr b="1" sz="1600">
              <a:solidFill>
                <a:srgbClr val="172B4D"/>
              </a:solidFill>
              <a:latin typeface="Arial"/>
              <a:ea typeface="Arial"/>
              <a:cs typeface="Arial"/>
              <a:sym typeface="Arial"/>
            </a:endParaRPr>
          </a:p>
          <a:p>
            <a:pPr indent="0" lvl="0" marL="0" marR="0" rtl="0" algn="ctr">
              <a:spcBef>
                <a:spcPts val="0"/>
              </a:spcBef>
              <a:spcAft>
                <a:spcPts val="0"/>
              </a:spcAft>
              <a:buClr>
                <a:schemeClr val="dk1"/>
              </a:buClr>
              <a:buSzPts val="1600"/>
              <a:buFont typeface="Arial"/>
              <a:buNone/>
            </a:pPr>
            <a:r>
              <a:t/>
            </a:r>
            <a:endParaRPr b="1" sz="1600">
              <a:solidFill>
                <a:srgbClr val="172B4D"/>
              </a:solidFill>
              <a:latin typeface="Arial"/>
              <a:ea typeface="Arial"/>
              <a:cs typeface="Arial"/>
              <a:sym typeface="Arial"/>
            </a:endParaRPr>
          </a:p>
          <a:p>
            <a:pPr indent="0" lvl="0" marL="0" marR="0" rtl="0" algn="ctr">
              <a:spcBef>
                <a:spcPts val="0"/>
              </a:spcBef>
              <a:spcAft>
                <a:spcPts val="0"/>
              </a:spcAft>
              <a:buNone/>
            </a:pPr>
            <a:r>
              <a:rPr lang="en-US" sz="1600">
                <a:solidFill>
                  <a:srgbClr val="5E6C84"/>
                </a:solidFill>
                <a:latin typeface="Arial"/>
                <a:ea typeface="Arial"/>
                <a:cs typeface="Arial"/>
                <a:sym typeface="Arial"/>
              </a:rPr>
              <a:t>PCA 60%, 70%, 80%, 90%</a:t>
            </a:r>
            <a:endParaRPr b="1" sz="1600">
              <a:solidFill>
                <a:srgbClr val="172B4D"/>
              </a:solidFill>
              <a:latin typeface="Arial"/>
              <a:ea typeface="Arial"/>
              <a:cs typeface="Arial"/>
              <a:sym typeface="Arial"/>
            </a:endParaRPr>
          </a:p>
        </p:txBody>
      </p:sp>
      <p:sp>
        <p:nvSpPr>
          <p:cNvPr id="53" name="Google Shape;53;p3"/>
          <p:cNvSpPr/>
          <p:nvPr/>
        </p:nvSpPr>
        <p:spPr>
          <a:xfrm>
            <a:off x="0" y="6547104"/>
            <a:ext cx="12191695" cy="310896"/>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4" name="Google Shape;54;p3"/>
          <p:cNvSpPr/>
          <p:nvPr/>
        </p:nvSpPr>
        <p:spPr>
          <a:xfrm>
            <a:off x="11384280" y="6601968"/>
            <a:ext cx="320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800"/>
              <a:buFont typeface="Arial"/>
              <a:buNone/>
            </a:pPr>
            <a:r>
              <a:rPr lang="en-US" sz="800">
                <a:solidFill>
                  <a:srgbClr val="B8C7D9"/>
                </a:solidFill>
                <a:latin typeface="Arial"/>
                <a:ea typeface="Arial"/>
                <a:cs typeface="Arial"/>
                <a:sym typeface="Arial"/>
              </a:rPr>
              <a:t>2</a:t>
            </a:r>
            <a:endParaRPr sz="8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3"/>
        </a:solidFill>
      </p:bgPr>
    </p:bg>
    <p:spTree>
      <p:nvGrpSpPr>
        <p:cNvPr id="59" name="Shape 59"/>
        <p:cNvGrpSpPr/>
        <p:nvPr/>
      </p:nvGrpSpPr>
      <p:grpSpPr>
        <a:xfrm>
          <a:off x="0" y="0"/>
          <a:ext cx="0" cy="0"/>
          <a:chOff x="0" y="0"/>
          <a:chExt cx="0" cy="0"/>
        </a:xfrm>
      </p:grpSpPr>
      <p:sp>
        <p:nvSpPr>
          <p:cNvPr id="60" name="Google Shape;60;p4"/>
          <p:cNvSpPr/>
          <p:nvPr/>
        </p:nvSpPr>
        <p:spPr>
          <a:xfrm>
            <a:off x="0" y="0"/>
            <a:ext cx="12191695" cy="640080"/>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4"/>
          <p:cNvSpPr/>
          <p:nvPr/>
        </p:nvSpPr>
        <p:spPr>
          <a:xfrm>
            <a:off x="502920" y="146304"/>
            <a:ext cx="9966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AFC"/>
              </a:buClr>
              <a:buSzPts val="2200"/>
              <a:buFont typeface="Arial"/>
              <a:buNone/>
            </a:pPr>
            <a:r>
              <a:rPr b="1" lang="en-US" sz="2200">
                <a:solidFill>
                  <a:srgbClr val="F7FAFC"/>
                </a:solidFill>
                <a:latin typeface="Arial"/>
                <a:ea typeface="Arial"/>
                <a:cs typeface="Arial"/>
                <a:sym typeface="Arial"/>
              </a:rPr>
              <a:t>PCA reduce la ganancia</a:t>
            </a:r>
            <a:endParaRPr sz="2200">
              <a:solidFill>
                <a:schemeClr val="dk1"/>
              </a:solidFill>
              <a:latin typeface="Arial"/>
              <a:ea typeface="Arial"/>
              <a:cs typeface="Arial"/>
              <a:sym typeface="Arial"/>
            </a:endParaRPr>
          </a:p>
        </p:txBody>
      </p:sp>
      <p:sp>
        <p:nvSpPr>
          <p:cNvPr id="62" name="Google Shape;62;p4"/>
          <p:cNvSpPr/>
          <p:nvPr/>
        </p:nvSpPr>
        <p:spPr>
          <a:xfrm>
            <a:off x="10652760" y="173736"/>
            <a:ext cx="10058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1000"/>
              <a:buFont typeface="Arial"/>
              <a:buNone/>
            </a:pPr>
            <a:r>
              <a:rPr b="1" lang="en-US" sz="1000">
                <a:solidFill>
                  <a:srgbClr val="B8C7D9"/>
                </a:solidFill>
                <a:latin typeface="Arial"/>
                <a:ea typeface="Arial"/>
                <a:cs typeface="Arial"/>
                <a:sym typeface="Arial"/>
              </a:rPr>
              <a:t>3/9</a:t>
            </a:r>
            <a:endParaRPr sz="1000">
              <a:solidFill>
                <a:schemeClr val="dk1"/>
              </a:solidFill>
              <a:latin typeface="Arial"/>
              <a:ea typeface="Arial"/>
              <a:cs typeface="Arial"/>
              <a:sym typeface="Arial"/>
            </a:endParaRPr>
          </a:p>
        </p:txBody>
      </p:sp>
      <p:sp>
        <p:nvSpPr>
          <p:cNvPr id="63" name="Google Shape;63;p4"/>
          <p:cNvSpPr/>
          <p:nvPr/>
        </p:nvSpPr>
        <p:spPr>
          <a:xfrm>
            <a:off x="594360" y="960120"/>
            <a:ext cx="6720840" cy="4937760"/>
          </a:xfrm>
          <a:prstGeom prst="rect">
            <a:avLst/>
          </a:prstGeom>
          <a:solidFill>
            <a:srgbClr val="FFFFFF"/>
          </a:solidFill>
          <a:ln cap="flat" cmpd="sng" w="12700">
            <a:solidFill>
              <a:srgbClr val="D9E2EC">
                <a:alpha val="9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pca_assets/fig01_ganancia_escenarios.png" id="64" name="Google Shape;64;p4"/>
          <p:cNvPicPr preferRelativeResize="0"/>
          <p:nvPr/>
        </p:nvPicPr>
        <p:blipFill rotWithShape="1">
          <a:blip r:embed="rId3">
            <a:alphaModFix/>
          </a:blip>
          <a:srcRect b="0" l="0" r="0" t="0"/>
          <a:stretch/>
        </p:blipFill>
        <p:spPr>
          <a:xfrm>
            <a:off x="640080" y="1525102"/>
            <a:ext cx="6629400" cy="3807796"/>
          </a:xfrm>
          <a:prstGeom prst="rect">
            <a:avLst/>
          </a:prstGeom>
          <a:noFill/>
          <a:ln>
            <a:noFill/>
          </a:ln>
        </p:spPr>
      </p:pic>
      <p:sp>
        <p:nvSpPr>
          <p:cNvPr id="65" name="Google Shape;65;p4"/>
          <p:cNvSpPr/>
          <p:nvPr/>
        </p:nvSpPr>
        <p:spPr>
          <a:xfrm>
            <a:off x="7726680" y="1188720"/>
            <a:ext cx="3337560" cy="1143000"/>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spcBef>
                <a:spcPts val="0"/>
              </a:spcBef>
              <a:spcAft>
                <a:spcPts val="0"/>
              </a:spcAft>
              <a:buClr>
                <a:srgbClr val="F26D5B"/>
              </a:buClr>
              <a:buSzPts val="3000"/>
              <a:buFont typeface="Arial"/>
              <a:buNone/>
            </a:pPr>
            <a:r>
              <a:rPr b="1" lang="en-US" sz="3000">
                <a:solidFill>
                  <a:srgbClr val="F26D5B"/>
                </a:solidFill>
                <a:latin typeface="Arial"/>
                <a:ea typeface="Arial"/>
                <a:cs typeface="Arial"/>
                <a:sym typeface="Arial"/>
              </a:rPr>
              <a:t>-11,8%</a:t>
            </a:r>
            <a:br>
              <a:rPr b="1" lang="en-US" sz="3000">
                <a:solidFill>
                  <a:srgbClr val="F26D5B"/>
                </a:solidFill>
                <a:latin typeface="Arial"/>
                <a:ea typeface="Arial"/>
                <a:cs typeface="Arial"/>
                <a:sym typeface="Arial"/>
              </a:rPr>
            </a:br>
            <a:endParaRPr sz="3000">
              <a:solidFill>
                <a:schemeClr val="dk1"/>
              </a:solidFill>
              <a:latin typeface="Arial"/>
              <a:ea typeface="Arial"/>
              <a:cs typeface="Arial"/>
              <a:sym typeface="Arial"/>
            </a:endParaRPr>
          </a:p>
          <a:p>
            <a:pPr indent="0" lvl="0" marL="0" marR="0" rtl="0" algn="l">
              <a:spcBef>
                <a:spcPts val="0"/>
              </a:spcBef>
              <a:spcAft>
                <a:spcPts val="0"/>
              </a:spcAft>
              <a:buClr>
                <a:srgbClr val="F7FAFC"/>
              </a:buClr>
              <a:buSzPts val="1250"/>
              <a:buFont typeface="Arial"/>
              <a:buNone/>
            </a:pPr>
            <a:r>
              <a:rPr lang="en-US" sz="1250">
                <a:solidFill>
                  <a:srgbClr val="F7FAFC"/>
                </a:solidFill>
                <a:latin typeface="Arial"/>
                <a:ea typeface="Arial"/>
                <a:cs typeface="Arial"/>
                <a:sym typeface="Arial"/>
              </a:rPr>
              <a:t>Ganancia sin FE</a:t>
            </a:r>
            <a:endParaRPr sz="3000">
              <a:solidFill>
                <a:schemeClr val="dk1"/>
              </a:solidFill>
              <a:latin typeface="Arial"/>
              <a:ea typeface="Arial"/>
              <a:cs typeface="Arial"/>
              <a:sym typeface="Arial"/>
            </a:endParaRPr>
          </a:p>
        </p:txBody>
      </p:sp>
      <p:sp>
        <p:nvSpPr>
          <p:cNvPr id="66" name="Google Shape;66;p4"/>
          <p:cNvSpPr/>
          <p:nvPr/>
        </p:nvSpPr>
        <p:spPr>
          <a:xfrm>
            <a:off x="7726680" y="2606040"/>
            <a:ext cx="3337560" cy="1143000"/>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spcBef>
                <a:spcPts val="0"/>
              </a:spcBef>
              <a:spcAft>
                <a:spcPts val="0"/>
              </a:spcAft>
              <a:buClr>
                <a:srgbClr val="F26D5B"/>
              </a:buClr>
              <a:buSzPts val="3000"/>
              <a:buFont typeface="Arial"/>
              <a:buNone/>
            </a:pPr>
            <a:r>
              <a:rPr b="1" lang="en-US" sz="3000">
                <a:solidFill>
                  <a:srgbClr val="F26D5B"/>
                </a:solidFill>
                <a:latin typeface="Arial"/>
                <a:ea typeface="Arial"/>
                <a:cs typeface="Arial"/>
                <a:sym typeface="Arial"/>
              </a:rPr>
              <a:t>-10,9%</a:t>
            </a:r>
            <a:br>
              <a:rPr b="1" lang="en-US" sz="3000">
                <a:solidFill>
                  <a:srgbClr val="F26D5B"/>
                </a:solidFill>
                <a:latin typeface="Arial"/>
                <a:ea typeface="Arial"/>
                <a:cs typeface="Arial"/>
                <a:sym typeface="Arial"/>
              </a:rPr>
            </a:br>
            <a:endParaRPr sz="3000">
              <a:solidFill>
                <a:schemeClr val="dk1"/>
              </a:solidFill>
              <a:latin typeface="Arial"/>
              <a:ea typeface="Arial"/>
              <a:cs typeface="Arial"/>
              <a:sym typeface="Arial"/>
            </a:endParaRPr>
          </a:p>
          <a:p>
            <a:pPr indent="0" lvl="0" marL="0" marR="0" rtl="0" algn="l">
              <a:spcBef>
                <a:spcPts val="0"/>
              </a:spcBef>
              <a:spcAft>
                <a:spcPts val="0"/>
              </a:spcAft>
              <a:buClr>
                <a:srgbClr val="F7FAFC"/>
              </a:buClr>
              <a:buSzPts val="1250"/>
              <a:buFont typeface="Arial"/>
              <a:buNone/>
            </a:pPr>
            <a:r>
              <a:rPr lang="en-US" sz="1250">
                <a:solidFill>
                  <a:srgbClr val="F7FAFC"/>
                </a:solidFill>
                <a:latin typeface="Arial"/>
                <a:ea typeface="Arial"/>
                <a:cs typeface="Arial"/>
                <a:sym typeface="Arial"/>
              </a:rPr>
              <a:t>Ganancia con FE</a:t>
            </a:r>
            <a:endParaRPr sz="3000">
              <a:solidFill>
                <a:schemeClr val="dk1"/>
              </a:solidFill>
              <a:latin typeface="Arial"/>
              <a:ea typeface="Arial"/>
              <a:cs typeface="Arial"/>
              <a:sym typeface="Arial"/>
            </a:endParaRPr>
          </a:p>
        </p:txBody>
      </p:sp>
      <p:sp>
        <p:nvSpPr>
          <p:cNvPr id="67" name="Google Shape;67;p4"/>
          <p:cNvSpPr/>
          <p:nvPr/>
        </p:nvSpPr>
        <p:spPr>
          <a:xfrm>
            <a:off x="7726680" y="4251960"/>
            <a:ext cx="3337560" cy="1051560"/>
          </a:xfrm>
          <a:prstGeom prst="rect">
            <a:avLst/>
          </a:prstGeom>
          <a:noFill/>
          <a:ln>
            <a:noFill/>
          </a:ln>
        </p:spPr>
        <p:txBody>
          <a:bodyPr anchorCtr="0" anchor="ctr" bIns="375" lIns="375" spcFirstLastPara="1" rIns="375" wrap="square" tIns="375">
            <a:normAutofit/>
          </a:bodyPr>
          <a:lstStyle/>
          <a:p>
            <a:pPr indent="0" lvl="0" marL="0" marR="0" rtl="0" algn="l">
              <a:spcBef>
                <a:spcPts val="0"/>
              </a:spcBef>
              <a:spcAft>
                <a:spcPts val="0"/>
              </a:spcAft>
              <a:buClr>
                <a:srgbClr val="F7FAFC"/>
              </a:buClr>
              <a:buSzPts val="1800"/>
              <a:buFont typeface="Arial"/>
              <a:buNone/>
            </a:pPr>
            <a:r>
              <a:rPr b="1" lang="en-US" sz="1800">
                <a:solidFill>
                  <a:srgbClr val="F7FAFC"/>
                </a:solidFill>
                <a:latin typeface="Arial"/>
                <a:ea typeface="Arial"/>
                <a:cs typeface="Arial"/>
                <a:sym typeface="Arial"/>
              </a:rPr>
              <a:t>La caída aparece en las dos condiciones: PCA no mejora ni empata al dataset original.</a:t>
            </a:r>
            <a:endParaRPr sz="1800">
              <a:solidFill>
                <a:schemeClr val="dk1"/>
              </a:solidFill>
              <a:latin typeface="Arial"/>
              <a:ea typeface="Arial"/>
              <a:cs typeface="Arial"/>
              <a:sym typeface="Arial"/>
            </a:endParaRPr>
          </a:p>
        </p:txBody>
      </p:sp>
      <p:sp>
        <p:nvSpPr>
          <p:cNvPr id="68" name="Google Shape;68;p4"/>
          <p:cNvSpPr/>
          <p:nvPr/>
        </p:nvSpPr>
        <p:spPr>
          <a:xfrm>
            <a:off x="0" y="6547104"/>
            <a:ext cx="12191695" cy="310896"/>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4"/>
          <p:cNvSpPr/>
          <p:nvPr/>
        </p:nvSpPr>
        <p:spPr>
          <a:xfrm>
            <a:off x="11384280" y="6601968"/>
            <a:ext cx="320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800"/>
              <a:buFont typeface="Arial"/>
              <a:buNone/>
            </a:pPr>
            <a:r>
              <a:rPr lang="en-US" sz="800">
                <a:solidFill>
                  <a:srgbClr val="B8C7D9"/>
                </a:solidFill>
                <a:latin typeface="Arial"/>
                <a:ea typeface="Arial"/>
                <a:cs typeface="Arial"/>
                <a:sym typeface="Arial"/>
              </a:rPr>
              <a:t>3</a:t>
            </a:r>
            <a:endParaRPr sz="800">
              <a:solidFill>
                <a:schemeClr val="dk1"/>
              </a:solidFill>
              <a:latin typeface="Arial"/>
              <a:ea typeface="Arial"/>
              <a:cs typeface="Arial"/>
              <a:sym typeface="Arial"/>
            </a:endParaRPr>
          </a:p>
        </p:txBody>
      </p:sp>
      <p:sp>
        <p:nvSpPr>
          <p:cNvPr id="70" name="Google Shape;70;p4"/>
          <p:cNvSpPr/>
          <p:nvPr/>
        </p:nvSpPr>
        <p:spPr>
          <a:xfrm>
            <a:off x="924560" y="5130800"/>
            <a:ext cx="2428240" cy="202098"/>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3"/>
        </a:solidFill>
      </p:bgPr>
    </p:bg>
    <p:spTree>
      <p:nvGrpSpPr>
        <p:cNvPr id="75" name="Shape 75"/>
        <p:cNvGrpSpPr/>
        <p:nvPr/>
      </p:nvGrpSpPr>
      <p:grpSpPr>
        <a:xfrm>
          <a:off x="0" y="0"/>
          <a:ext cx="0" cy="0"/>
          <a:chOff x="0" y="0"/>
          <a:chExt cx="0" cy="0"/>
        </a:xfrm>
      </p:grpSpPr>
      <p:sp>
        <p:nvSpPr>
          <p:cNvPr id="76" name="Google Shape;76;p5"/>
          <p:cNvSpPr/>
          <p:nvPr/>
        </p:nvSpPr>
        <p:spPr>
          <a:xfrm>
            <a:off x="0" y="0"/>
            <a:ext cx="12191695" cy="640080"/>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7" name="Google Shape;77;p5"/>
          <p:cNvSpPr/>
          <p:nvPr/>
        </p:nvSpPr>
        <p:spPr>
          <a:xfrm>
            <a:off x="502920" y="146304"/>
            <a:ext cx="9966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AFC"/>
              </a:buClr>
              <a:buSzPts val="2200"/>
              <a:buFont typeface="Arial"/>
              <a:buNone/>
            </a:pPr>
            <a:r>
              <a:rPr b="1" lang="en-US" sz="2200">
                <a:solidFill>
                  <a:srgbClr val="F7FAFC"/>
                </a:solidFill>
                <a:latin typeface="Arial"/>
                <a:ea typeface="Arial"/>
                <a:cs typeface="Arial"/>
                <a:sym typeface="Arial"/>
              </a:rPr>
              <a:t>El tiempo de corrida no baja</a:t>
            </a:r>
            <a:endParaRPr sz="2200">
              <a:solidFill>
                <a:schemeClr val="dk1"/>
              </a:solidFill>
              <a:latin typeface="Arial"/>
              <a:ea typeface="Arial"/>
              <a:cs typeface="Arial"/>
              <a:sym typeface="Arial"/>
            </a:endParaRPr>
          </a:p>
        </p:txBody>
      </p:sp>
      <p:sp>
        <p:nvSpPr>
          <p:cNvPr id="78" name="Google Shape;78;p5"/>
          <p:cNvSpPr/>
          <p:nvPr/>
        </p:nvSpPr>
        <p:spPr>
          <a:xfrm>
            <a:off x="10652760" y="173736"/>
            <a:ext cx="10058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1000"/>
              <a:buFont typeface="Arial"/>
              <a:buNone/>
            </a:pPr>
            <a:r>
              <a:rPr b="1" lang="en-US" sz="1000">
                <a:solidFill>
                  <a:srgbClr val="B8C7D9"/>
                </a:solidFill>
                <a:latin typeface="Arial"/>
                <a:ea typeface="Arial"/>
                <a:cs typeface="Arial"/>
                <a:sym typeface="Arial"/>
              </a:rPr>
              <a:t>4/9</a:t>
            </a:r>
            <a:endParaRPr sz="1000">
              <a:solidFill>
                <a:schemeClr val="dk1"/>
              </a:solidFill>
              <a:latin typeface="Arial"/>
              <a:ea typeface="Arial"/>
              <a:cs typeface="Arial"/>
              <a:sym typeface="Arial"/>
            </a:endParaRPr>
          </a:p>
        </p:txBody>
      </p:sp>
      <p:sp>
        <p:nvSpPr>
          <p:cNvPr id="79" name="Google Shape;79;p5"/>
          <p:cNvSpPr/>
          <p:nvPr/>
        </p:nvSpPr>
        <p:spPr>
          <a:xfrm>
            <a:off x="594360" y="960120"/>
            <a:ext cx="6720840" cy="4937760"/>
          </a:xfrm>
          <a:prstGeom prst="rect">
            <a:avLst/>
          </a:prstGeom>
          <a:solidFill>
            <a:srgbClr val="FFFFFF"/>
          </a:solidFill>
          <a:ln cap="flat" cmpd="sng" w="12700">
            <a:solidFill>
              <a:srgbClr val="D9E2EC">
                <a:alpha val="9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pca_assets/fig02_tiempo_escenarios.png" id="80" name="Google Shape;80;p5"/>
          <p:cNvPicPr preferRelativeResize="0"/>
          <p:nvPr/>
        </p:nvPicPr>
        <p:blipFill rotWithShape="1">
          <a:blip r:embed="rId3">
            <a:alphaModFix/>
          </a:blip>
          <a:srcRect b="0" l="0" r="0" t="0"/>
          <a:stretch/>
        </p:blipFill>
        <p:spPr>
          <a:xfrm>
            <a:off x="640080" y="1525102"/>
            <a:ext cx="6629400" cy="3807796"/>
          </a:xfrm>
          <a:prstGeom prst="rect">
            <a:avLst/>
          </a:prstGeom>
          <a:noFill/>
          <a:ln>
            <a:noFill/>
          </a:ln>
        </p:spPr>
      </p:pic>
      <p:sp>
        <p:nvSpPr>
          <p:cNvPr id="81" name="Google Shape;81;p5"/>
          <p:cNvSpPr/>
          <p:nvPr/>
        </p:nvSpPr>
        <p:spPr>
          <a:xfrm>
            <a:off x="7726680" y="1188720"/>
            <a:ext cx="3337560" cy="1143000"/>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spcBef>
                <a:spcPts val="0"/>
              </a:spcBef>
              <a:spcAft>
                <a:spcPts val="0"/>
              </a:spcAft>
              <a:buClr>
                <a:srgbClr val="F26D5B"/>
              </a:buClr>
              <a:buSzPts val="3000"/>
              <a:buFont typeface="Arial"/>
              <a:buNone/>
            </a:pPr>
            <a:r>
              <a:rPr b="1" lang="en-US" sz="3000">
                <a:solidFill>
                  <a:srgbClr val="F26D5B"/>
                </a:solidFill>
                <a:latin typeface="Arial"/>
                <a:ea typeface="Arial"/>
                <a:cs typeface="Arial"/>
                <a:sym typeface="Arial"/>
              </a:rPr>
              <a:t>+35,5%</a:t>
            </a:r>
            <a:br>
              <a:rPr b="1" lang="en-US" sz="3000">
                <a:solidFill>
                  <a:srgbClr val="F26D5B"/>
                </a:solidFill>
                <a:latin typeface="Arial"/>
                <a:ea typeface="Arial"/>
                <a:cs typeface="Arial"/>
                <a:sym typeface="Arial"/>
              </a:rPr>
            </a:br>
            <a:endParaRPr sz="3000">
              <a:solidFill>
                <a:schemeClr val="dk1"/>
              </a:solidFill>
              <a:latin typeface="Arial"/>
              <a:ea typeface="Arial"/>
              <a:cs typeface="Arial"/>
              <a:sym typeface="Arial"/>
            </a:endParaRPr>
          </a:p>
          <a:p>
            <a:pPr indent="0" lvl="0" marL="0" marR="0" rtl="0" algn="l">
              <a:spcBef>
                <a:spcPts val="0"/>
              </a:spcBef>
              <a:spcAft>
                <a:spcPts val="0"/>
              </a:spcAft>
              <a:buClr>
                <a:srgbClr val="F7FAFC"/>
              </a:buClr>
              <a:buSzPts val="1250"/>
              <a:buFont typeface="Arial"/>
              <a:buNone/>
            </a:pPr>
            <a:r>
              <a:rPr lang="en-US" sz="1250">
                <a:solidFill>
                  <a:srgbClr val="F7FAFC"/>
                </a:solidFill>
                <a:latin typeface="Arial"/>
                <a:ea typeface="Arial"/>
                <a:cs typeface="Arial"/>
                <a:sym typeface="Arial"/>
              </a:rPr>
              <a:t>Tiempo sin FE</a:t>
            </a:r>
            <a:endParaRPr sz="3000">
              <a:solidFill>
                <a:schemeClr val="dk1"/>
              </a:solidFill>
              <a:latin typeface="Arial"/>
              <a:ea typeface="Arial"/>
              <a:cs typeface="Arial"/>
              <a:sym typeface="Arial"/>
            </a:endParaRPr>
          </a:p>
        </p:txBody>
      </p:sp>
      <p:sp>
        <p:nvSpPr>
          <p:cNvPr id="82" name="Google Shape;82;p5"/>
          <p:cNvSpPr/>
          <p:nvPr/>
        </p:nvSpPr>
        <p:spPr>
          <a:xfrm>
            <a:off x="7726680" y="2606040"/>
            <a:ext cx="3337560" cy="1143000"/>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spcBef>
                <a:spcPts val="0"/>
              </a:spcBef>
              <a:spcAft>
                <a:spcPts val="0"/>
              </a:spcAft>
              <a:buClr>
                <a:srgbClr val="F26D5B"/>
              </a:buClr>
              <a:buSzPts val="3000"/>
              <a:buFont typeface="Arial"/>
              <a:buNone/>
            </a:pPr>
            <a:r>
              <a:rPr b="1" lang="en-US" sz="3000">
                <a:solidFill>
                  <a:srgbClr val="F26D5B"/>
                </a:solidFill>
                <a:latin typeface="Arial"/>
                <a:ea typeface="Arial"/>
                <a:cs typeface="Arial"/>
                <a:sym typeface="Arial"/>
              </a:rPr>
              <a:t>+61,7%</a:t>
            </a:r>
            <a:br>
              <a:rPr b="1" lang="en-US" sz="3000">
                <a:solidFill>
                  <a:srgbClr val="F26D5B"/>
                </a:solidFill>
                <a:latin typeface="Arial"/>
                <a:ea typeface="Arial"/>
                <a:cs typeface="Arial"/>
                <a:sym typeface="Arial"/>
              </a:rPr>
            </a:br>
            <a:endParaRPr sz="3000">
              <a:solidFill>
                <a:schemeClr val="dk1"/>
              </a:solidFill>
              <a:latin typeface="Arial"/>
              <a:ea typeface="Arial"/>
              <a:cs typeface="Arial"/>
              <a:sym typeface="Arial"/>
            </a:endParaRPr>
          </a:p>
          <a:p>
            <a:pPr indent="0" lvl="0" marL="0" marR="0" rtl="0" algn="l">
              <a:spcBef>
                <a:spcPts val="0"/>
              </a:spcBef>
              <a:spcAft>
                <a:spcPts val="0"/>
              </a:spcAft>
              <a:buClr>
                <a:srgbClr val="F7FAFC"/>
              </a:buClr>
              <a:buSzPts val="1250"/>
              <a:buFont typeface="Arial"/>
              <a:buNone/>
            </a:pPr>
            <a:r>
              <a:rPr lang="en-US" sz="1250">
                <a:solidFill>
                  <a:srgbClr val="F7FAFC"/>
                </a:solidFill>
                <a:latin typeface="Arial"/>
                <a:ea typeface="Arial"/>
                <a:cs typeface="Arial"/>
                <a:sym typeface="Arial"/>
              </a:rPr>
              <a:t>Tiempo con FE</a:t>
            </a:r>
            <a:endParaRPr sz="3000">
              <a:solidFill>
                <a:schemeClr val="dk1"/>
              </a:solidFill>
              <a:latin typeface="Arial"/>
              <a:ea typeface="Arial"/>
              <a:cs typeface="Arial"/>
              <a:sym typeface="Arial"/>
            </a:endParaRPr>
          </a:p>
        </p:txBody>
      </p:sp>
      <p:sp>
        <p:nvSpPr>
          <p:cNvPr id="83" name="Google Shape;83;p5"/>
          <p:cNvSpPr/>
          <p:nvPr/>
        </p:nvSpPr>
        <p:spPr>
          <a:xfrm>
            <a:off x="7726680" y="4251960"/>
            <a:ext cx="3337560" cy="1005840"/>
          </a:xfrm>
          <a:prstGeom prst="rect">
            <a:avLst/>
          </a:prstGeom>
          <a:noFill/>
          <a:ln>
            <a:noFill/>
          </a:ln>
        </p:spPr>
        <p:txBody>
          <a:bodyPr anchorCtr="0" anchor="ctr" bIns="375" lIns="375" spcFirstLastPara="1" rIns="375" wrap="square" tIns="375">
            <a:normAutofit/>
          </a:bodyPr>
          <a:lstStyle/>
          <a:p>
            <a:pPr indent="0" lvl="0" marL="0" marR="0" rtl="0" algn="l">
              <a:spcBef>
                <a:spcPts val="0"/>
              </a:spcBef>
              <a:spcAft>
                <a:spcPts val="0"/>
              </a:spcAft>
              <a:buClr>
                <a:srgbClr val="F7FAFC"/>
              </a:buClr>
              <a:buSzPts val="1800"/>
              <a:buFont typeface="Arial"/>
              <a:buNone/>
            </a:pPr>
            <a:r>
              <a:rPr b="1" lang="en-US" sz="1800">
                <a:solidFill>
                  <a:srgbClr val="F7FAFC"/>
                </a:solidFill>
                <a:latin typeface="Arial"/>
                <a:ea typeface="Arial"/>
                <a:cs typeface="Arial"/>
                <a:sym typeface="Arial"/>
              </a:rPr>
              <a:t>En el bloque comparable, PCA empeora simultáneamente el valor y el costo de corrida.</a:t>
            </a:r>
            <a:endParaRPr sz="1800">
              <a:solidFill>
                <a:schemeClr val="dk1"/>
              </a:solidFill>
              <a:latin typeface="Arial"/>
              <a:ea typeface="Arial"/>
              <a:cs typeface="Arial"/>
              <a:sym typeface="Arial"/>
            </a:endParaRPr>
          </a:p>
        </p:txBody>
      </p:sp>
      <p:sp>
        <p:nvSpPr>
          <p:cNvPr id="84" name="Google Shape;84;p5"/>
          <p:cNvSpPr/>
          <p:nvPr/>
        </p:nvSpPr>
        <p:spPr>
          <a:xfrm>
            <a:off x="0" y="6547104"/>
            <a:ext cx="12191695" cy="310896"/>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5"/>
          <p:cNvSpPr/>
          <p:nvPr/>
        </p:nvSpPr>
        <p:spPr>
          <a:xfrm>
            <a:off x="11384280" y="6601968"/>
            <a:ext cx="320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800"/>
              <a:buFont typeface="Arial"/>
              <a:buNone/>
            </a:pPr>
            <a:r>
              <a:rPr lang="en-US" sz="800">
                <a:solidFill>
                  <a:srgbClr val="B8C7D9"/>
                </a:solidFill>
                <a:latin typeface="Arial"/>
                <a:ea typeface="Arial"/>
                <a:cs typeface="Arial"/>
                <a:sym typeface="Arial"/>
              </a:rPr>
              <a:t>4</a:t>
            </a:r>
            <a:endParaRPr sz="800">
              <a:solidFill>
                <a:schemeClr val="dk1"/>
              </a:solidFill>
              <a:latin typeface="Arial"/>
              <a:ea typeface="Arial"/>
              <a:cs typeface="Arial"/>
              <a:sym typeface="Arial"/>
            </a:endParaRPr>
          </a:p>
        </p:txBody>
      </p:sp>
      <p:sp>
        <p:nvSpPr>
          <p:cNvPr id="86" name="Google Shape;86;p5"/>
          <p:cNvSpPr/>
          <p:nvPr/>
        </p:nvSpPr>
        <p:spPr>
          <a:xfrm>
            <a:off x="924560" y="5130800"/>
            <a:ext cx="2428240" cy="202098"/>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3"/>
        </a:solidFill>
      </p:bgPr>
    </p:bg>
    <p:spTree>
      <p:nvGrpSpPr>
        <p:cNvPr id="91" name="Shape 91"/>
        <p:cNvGrpSpPr/>
        <p:nvPr/>
      </p:nvGrpSpPr>
      <p:grpSpPr>
        <a:xfrm>
          <a:off x="0" y="0"/>
          <a:ext cx="0" cy="0"/>
          <a:chOff x="0" y="0"/>
          <a:chExt cx="0" cy="0"/>
        </a:xfrm>
      </p:grpSpPr>
      <p:sp>
        <p:nvSpPr>
          <p:cNvPr id="92" name="Google Shape;92;p6"/>
          <p:cNvSpPr/>
          <p:nvPr/>
        </p:nvSpPr>
        <p:spPr>
          <a:xfrm>
            <a:off x="0" y="0"/>
            <a:ext cx="12191695" cy="640080"/>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6"/>
          <p:cNvSpPr/>
          <p:nvPr/>
        </p:nvSpPr>
        <p:spPr>
          <a:xfrm>
            <a:off x="502920" y="146304"/>
            <a:ext cx="9966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AFC"/>
              </a:buClr>
              <a:buSzPts val="2200"/>
              <a:buFont typeface="Arial"/>
              <a:buNone/>
            </a:pPr>
            <a:r>
              <a:rPr b="1" lang="en-US" sz="2200">
                <a:solidFill>
                  <a:srgbClr val="F7FAFC"/>
                </a:solidFill>
                <a:latin typeface="Arial"/>
                <a:ea typeface="Arial"/>
                <a:cs typeface="Arial"/>
                <a:sym typeface="Arial"/>
              </a:rPr>
              <a:t>El trade-off no aparece</a:t>
            </a:r>
            <a:endParaRPr sz="2200">
              <a:solidFill>
                <a:schemeClr val="dk1"/>
              </a:solidFill>
              <a:latin typeface="Arial"/>
              <a:ea typeface="Arial"/>
              <a:cs typeface="Arial"/>
              <a:sym typeface="Arial"/>
            </a:endParaRPr>
          </a:p>
        </p:txBody>
      </p:sp>
      <p:sp>
        <p:nvSpPr>
          <p:cNvPr id="94" name="Google Shape;94;p6"/>
          <p:cNvSpPr/>
          <p:nvPr/>
        </p:nvSpPr>
        <p:spPr>
          <a:xfrm>
            <a:off x="10652760" y="173736"/>
            <a:ext cx="10058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1000"/>
              <a:buFont typeface="Arial"/>
              <a:buNone/>
            </a:pPr>
            <a:r>
              <a:rPr b="1" lang="en-US" sz="1000">
                <a:solidFill>
                  <a:srgbClr val="B8C7D9"/>
                </a:solidFill>
                <a:latin typeface="Arial"/>
                <a:ea typeface="Arial"/>
                <a:cs typeface="Arial"/>
                <a:sym typeface="Arial"/>
              </a:rPr>
              <a:t>5/9</a:t>
            </a:r>
            <a:endParaRPr sz="1000">
              <a:solidFill>
                <a:schemeClr val="dk1"/>
              </a:solidFill>
              <a:latin typeface="Arial"/>
              <a:ea typeface="Arial"/>
              <a:cs typeface="Arial"/>
              <a:sym typeface="Arial"/>
            </a:endParaRPr>
          </a:p>
        </p:txBody>
      </p:sp>
      <p:sp>
        <p:nvSpPr>
          <p:cNvPr id="95" name="Google Shape;95;p6"/>
          <p:cNvSpPr/>
          <p:nvPr/>
        </p:nvSpPr>
        <p:spPr>
          <a:xfrm>
            <a:off x="658368" y="932688"/>
            <a:ext cx="10881360" cy="5285232"/>
          </a:xfrm>
          <a:prstGeom prst="rect">
            <a:avLst/>
          </a:prstGeom>
          <a:solidFill>
            <a:srgbClr val="FFFFFF"/>
          </a:solidFill>
          <a:ln cap="flat" cmpd="sng" w="12700">
            <a:solidFill>
              <a:srgbClr val="D9E2EC">
                <a:alpha val="9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pca_assets/fig05_pareto_ganancia_tiempo.png" id="96" name="Google Shape;96;p6"/>
          <p:cNvPicPr preferRelativeResize="0"/>
          <p:nvPr/>
        </p:nvPicPr>
        <p:blipFill rotWithShape="1">
          <a:blip r:embed="rId3">
            <a:alphaModFix/>
          </a:blip>
          <a:srcRect b="0" l="0" r="0" t="0"/>
          <a:stretch/>
        </p:blipFill>
        <p:spPr>
          <a:xfrm>
            <a:off x="1918821" y="978408"/>
            <a:ext cx="8360455" cy="5193792"/>
          </a:xfrm>
          <a:prstGeom prst="rect">
            <a:avLst/>
          </a:prstGeom>
          <a:noFill/>
          <a:ln>
            <a:noFill/>
          </a:ln>
        </p:spPr>
      </p:pic>
      <p:sp>
        <p:nvSpPr>
          <p:cNvPr id="97" name="Google Shape;97;p6"/>
          <p:cNvSpPr/>
          <p:nvPr/>
        </p:nvSpPr>
        <p:spPr>
          <a:xfrm>
            <a:off x="0" y="6547104"/>
            <a:ext cx="12191695" cy="310896"/>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6"/>
          <p:cNvSpPr/>
          <p:nvPr/>
        </p:nvSpPr>
        <p:spPr>
          <a:xfrm>
            <a:off x="11384280" y="6601968"/>
            <a:ext cx="320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800"/>
              <a:buFont typeface="Arial"/>
              <a:buNone/>
            </a:pPr>
            <a:r>
              <a:rPr lang="en-US" sz="800">
                <a:solidFill>
                  <a:srgbClr val="B8C7D9"/>
                </a:solidFill>
                <a:latin typeface="Arial"/>
                <a:ea typeface="Arial"/>
                <a:cs typeface="Arial"/>
                <a:sym typeface="Arial"/>
              </a:rPr>
              <a:t>5</a:t>
            </a:r>
            <a:endParaRPr sz="800">
              <a:solidFill>
                <a:schemeClr val="dk1"/>
              </a:solidFill>
              <a:latin typeface="Arial"/>
              <a:ea typeface="Arial"/>
              <a:cs typeface="Arial"/>
              <a:sym typeface="Arial"/>
            </a:endParaRPr>
          </a:p>
        </p:txBody>
      </p:sp>
      <p:sp>
        <p:nvSpPr>
          <p:cNvPr id="99" name="Google Shape;99;p6"/>
          <p:cNvSpPr/>
          <p:nvPr/>
        </p:nvSpPr>
        <p:spPr>
          <a:xfrm>
            <a:off x="2499360" y="5925311"/>
            <a:ext cx="2824480" cy="196131"/>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3"/>
        </a:solidFill>
      </p:bgPr>
    </p:bg>
    <p:spTree>
      <p:nvGrpSpPr>
        <p:cNvPr id="104" name="Shape 104"/>
        <p:cNvGrpSpPr/>
        <p:nvPr/>
      </p:nvGrpSpPr>
      <p:grpSpPr>
        <a:xfrm>
          <a:off x="0" y="0"/>
          <a:ext cx="0" cy="0"/>
          <a:chOff x="0" y="0"/>
          <a:chExt cx="0" cy="0"/>
        </a:xfrm>
      </p:grpSpPr>
      <p:sp>
        <p:nvSpPr>
          <p:cNvPr id="105" name="Google Shape;105;p7"/>
          <p:cNvSpPr/>
          <p:nvPr/>
        </p:nvSpPr>
        <p:spPr>
          <a:xfrm>
            <a:off x="0" y="0"/>
            <a:ext cx="12191695" cy="640080"/>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7"/>
          <p:cNvSpPr/>
          <p:nvPr/>
        </p:nvSpPr>
        <p:spPr>
          <a:xfrm>
            <a:off x="502920" y="146304"/>
            <a:ext cx="9966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AFC"/>
              </a:buClr>
              <a:buSzPts val="2200"/>
              <a:buFont typeface="Arial"/>
              <a:buNone/>
            </a:pPr>
            <a:r>
              <a:rPr b="1" lang="en-US" sz="2200">
                <a:solidFill>
                  <a:srgbClr val="F7FAFC"/>
                </a:solidFill>
                <a:latin typeface="Arial"/>
                <a:ea typeface="Arial"/>
                <a:cs typeface="Arial"/>
                <a:sym typeface="Arial"/>
              </a:rPr>
              <a:t>Adicional: variar la varianza no rescata PCA</a:t>
            </a:r>
            <a:endParaRPr sz="2200">
              <a:solidFill>
                <a:schemeClr val="dk1"/>
              </a:solidFill>
              <a:latin typeface="Arial"/>
              <a:ea typeface="Arial"/>
              <a:cs typeface="Arial"/>
              <a:sym typeface="Arial"/>
            </a:endParaRPr>
          </a:p>
        </p:txBody>
      </p:sp>
      <p:sp>
        <p:nvSpPr>
          <p:cNvPr id="107" name="Google Shape;107;p7"/>
          <p:cNvSpPr/>
          <p:nvPr/>
        </p:nvSpPr>
        <p:spPr>
          <a:xfrm>
            <a:off x="10652760" y="173736"/>
            <a:ext cx="10058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1000"/>
              <a:buFont typeface="Arial"/>
              <a:buNone/>
            </a:pPr>
            <a:r>
              <a:rPr b="1" lang="en-US" sz="1000">
                <a:solidFill>
                  <a:srgbClr val="B8C7D9"/>
                </a:solidFill>
                <a:latin typeface="Arial"/>
                <a:ea typeface="Arial"/>
                <a:cs typeface="Arial"/>
                <a:sym typeface="Arial"/>
              </a:rPr>
              <a:t>6/9</a:t>
            </a:r>
            <a:endParaRPr sz="1000">
              <a:solidFill>
                <a:schemeClr val="dk1"/>
              </a:solidFill>
              <a:latin typeface="Arial"/>
              <a:ea typeface="Arial"/>
              <a:cs typeface="Arial"/>
              <a:sym typeface="Arial"/>
            </a:endParaRPr>
          </a:p>
        </p:txBody>
      </p:sp>
      <p:sp>
        <p:nvSpPr>
          <p:cNvPr id="108" name="Google Shape;108;p7"/>
          <p:cNvSpPr/>
          <p:nvPr/>
        </p:nvSpPr>
        <p:spPr>
          <a:xfrm>
            <a:off x="594360" y="960120"/>
            <a:ext cx="5440680" cy="4846320"/>
          </a:xfrm>
          <a:prstGeom prst="rect">
            <a:avLst/>
          </a:prstGeom>
          <a:solidFill>
            <a:srgbClr val="FFFFFF"/>
          </a:solidFill>
          <a:ln cap="flat" cmpd="sng" w="12700">
            <a:solidFill>
              <a:srgbClr val="D9E2EC">
                <a:alpha val="9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pca_assets/fig14_varianza_ganancia.png" id="109" name="Google Shape;109;p7"/>
          <p:cNvPicPr preferRelativeResize="0"/>
          <p:nvPr/>
        </p:nvPicPr>
        <p:blipFill rotWithShape="1">
          <a:blip r:embed="rId3">
            <a:alphaModFix/>
          </a:blip>
          <a:srcRect b="0" l="0" r="0" t="0"/>
          <a:stretch/>
        </p:blipFill>
        <p:spPr>
          <a:xfrm>
            <a:off x="640080" y="1794227"/>
            <a:ext cx="5349240" cy="3178107"/>
          </a:xfrm>
          <a:prstGeom prst="rect">
            <a:avLst/>
          </a:prstGeom>
          <a:noFill/>
          <a:ln>
            <a:noFill/>
          </a:ln>
        </p:spPr>
      </p:pic>
      <p:sp>
        <p:nvSpPr>
          <p:cNvPr id="110" name="Google Shape;110;p7"/>
          <p:cNvSpPr/>
          <p:nvPr/>
        </p:nvSpPr>
        <p:spPr>
          <a:xfrm>
            <a:off x="6263640" y="960120"/>
            <a:ext cx="5349240" cy="4846320"/>
          </a:xfrm>
          <a:prstGeom prst="rect">
            <a:avLst/>
          </a:prstGeom>
          <a:solidFill>
            <a:srgbClr val="FFFFFF"/>
          </a:solidFill>
          <a:ln cap="flat" cmpd="sng" w="12700">
            <a:solidFill>
              <a:srgbClr val="D9E2EC">
                <a:alpha val="90196"/>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mnt/data/pca_assets/fig15_varianza_tiempo.png" id="111" name="Google Shape;111;p7"/>
          <p:cNvPicPr preferRelativeResize="0"/>
          <p:nvPr/>
        </p:nvPicPr>
        <p:blipFill rotWithShape="1">
          <a:blip r:embed="rId4">
            <a:alphaModFix/>
          </a:blip>
          <a:srcRect b="0" l="0" r="0" t="0"/>
          <a:stretch/>
        </p:blipFill>
        <p:spPr>
          <a:xfrm>
            <a:off x="6309360" y="1847187"/>
            <a:ext cx="5257800" cy="3072186"/>
          </a:xfrm>
          <a:prstGeom prst="rect">
            <a:avLst/>
          </a:prstGeom>
          <a:noFill/>
          <a:ln>
            <a:noFill/>
          </a:ln>
        </p:spPr>
      </p:pic>
      <p:sp>
        <p:nvSpPr>
          <p:cNvPr id="112" name="Google Shape;112;p7"/>
          <p:cNvSpPr/>
          <p:nvPr/>
        </p:nvSpPr>
        <p:spPr>
          <a:xfrm>
            <a:off x="1965960" y="5998464"/>
            <a:ext cx="8229600" cy="347472"/>
          </a:xfrm>
          <a:prstGeom prst="rect">
            <a:avLst/>
          </a:prstGeom>
          <a:solidFill>
            <a:srgbClr val="FFE7E1"/>
          </a:solidFill>
          <a:ln cap="flat" cmpd="sng" w="9525">
            <a:solidFill>
              <a:srgbClr val="FFE7E1"/>
            </a:solidFill>
            <a:prstDash val="solid"/>
            <a:round/>
            <a:headEnd len="sm" w="sm" type="none"/>
            <a:tailEnd len="sm" w="sm" type="none"/>
          </a:ln>
        </p:spPr>
        <p:txBody>
          <a:bodyPr anchorCtr="0" anchor="ctr" bIns="375" lIns="375" spcFirstLastPara="1" rIns="375" wrap="square" tIns="375">
            <a:normAutofit/>
          </a:bodyPr>
          <a:lstStyle/>
          <a:p>
            <a:pPr indent="0" lvl="0" marL="0" marR="0" rtl="0" algn="ctr">
              <a:spcBef>
                <a:spcPts val="0"/>
              </a:spcBef>
              <a:spcAft>
                <a:spcPts val="0"/>
              </a:spcAft>
              <a:buClr>
                <a:srgbClr val="172B4D"/>
              </a:buClr>
              <a:buSzPts val="1200"/>
              <a:buFont typeface="Arial"/>
              <a:buNone/>
            </a:pPr>
            <a:r>
              <a:rPr b="1" lang="en-US" sz="1200">
                <a:solidFill>
                  <a:srgbClr val="172B4D"/>
                </a:solidFill>
                <a:latin typeface="Arial"/>
                <a:ea typeface="Arial"/>
                <a:cs typeface="Arial"/>
                <a:sym typeface="Arial"/>
              </a:rPr>
              <a:t>Mejor PCA queda todavía entre 4,4% y 4,8% por debajo del baseline en ganancia.</a:t>
            </a:r>
            <a:endParaRPr sz="1200">
              <a:solidFill>
                <a:schemeClr val="dk1"/>
              </a:solidFill>
              <a:latin typeface="Arial"/>
              <a:ea typeface="Arial"/>
              <a:cs typeface="Arial"/>
              <a:sym typeface="Arial"/>
            </a:endParaRPr>
          </a:p>
        </p:txBody>
      </p:sp>
      <p:sp>
        <p:nvSpPr>
          <p:cNvPr id="113" name="Google Shape;113;p7"/>
          <p:cNvSpPr/>
          <p:nvPr/>
        </p:nvSpPr>
        <p:spPr>
          <a:xfrm>
            <a:off x="0" y="6547104"/>
            <a:ext cx="12191695" cy="310896"/>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 name="Google Shape;114;p7"/>
          <p:cNvSpPr/>
          <p:nvPr/>
        </p:nvSpPr>
        <p:spPr>
          <a:xfrm>
            <a:off x="11384280" y="6601968"/>
            <a:ext cx="320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800"/>
              <a:buFont typeface="Arial"/>
              <a:buNone/>
            </a:pPr>
            <a:r>
              <a:rPr lang="en-US" sz="800">
                <a:solidFill>
                  <a:srgbClr val="B8C7D9"/>
                </a:solidFill>
                <a:latin typeface="Arial"/>
                <a:ea typeface="Arial"/>
                <a:cs typeface="Arial"/>
                <a:sym typeface="Arial"/>
              </a:rPr>
              <a:t>6</a:t>
            </a:r>
            <a:endParaRPr sz="800">
              <a:solidFill>
                <a:schemeClr val="dk1"/>
              </a:solidFill>
              <a:latin typeface="Arial"/>
              <a:ea typeface="Arial"/>
              <a:cs typeface="Arial"/>
              <a:sym typeface="Arial"/>
            </a:endParaRPr>
          </a:p>
        </p:txBody>
      </p:sp>
      <p:sp>
        <p:nvSpPr>
          <p:cNvPr id="115" name="Google Shape;115;p7"/>
          <p:cNvSpPr/>
          <p:nvPr/>
        </p:nvSpPr>
        <p:spPr>
          <a:xfrm>
            <a:off x="886460" y="4818324"/>
            <a:ext cx="2428240" cy="202098"/>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 name="Google Shape;116;p7"/>
          <p:cNvSpPr/>
          <p:nvPr/>
        </p:nvSpPr>
        <p:spPr>
          <a:xfrm>
            <a:off x="6410960" y="4791443"/>
            <a:ext cx="2428240" cy="202098"/>
          </a:xfrm>
          <a:prstGeom prst="rect">
            <a:avLst/>
          </a:prstGeom>
          <a:solidFill>
            <a:schemeClr val="lt1"/>
          </a:solidFill>
          <a:ln cap="flat" cmpd="sng" w="12700">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3"/>
        </a:solidFill>
      </p:bgPr>
    </p:bg>
    <p:spTree>
      <p:nvGrpSpPr>
        <p:cNvPr id="121" name="Shape 121"/>
        <p:cNvGrpSpPr/>
        <p:nvPr/>
      </p:nvGrpSpPr>
      <p:grpSpPr>
        <a:xfrm>
          <a:off x="0" y="0"/>
          <a:ext cx="0" cy="0"/>
          <a:chOff x="0" y="0"/>
          <a:chExt cx="0" cy="0"/>
        </a:xfrm>
      </p:grpSpPr>
      <p:sp>
        <p:nvSpPr>
          <p:cNvPr id="122" name="Google Shape;122;p8"/>
          <p:cNvSpPr/>
          <p:nvPr/>
        </p:nvSpPr>
        <p:spPr>
          <a:xfrm>
            <a:off x="0" y="0"/>
            <a:ext cx="12191695" cy="640080"/>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8"/>
          <p:cNvSpPr/>
          <p:nvPr/>
        </p:nvSpPr>
        <p:spPr>
          <a:xfrm>
            <a:off x="502920" y="146304"/>
            <a:ext cx="9966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AFC"/>
              </a:buClr>
              <a:buSzPts val="2200"/>
              <a:buFont typeface="Arial"/>
              <a:buNone/>
            </a:pPr>
            <a:r>
              <a:rPr b="1" lang="en-US" sz="2200">
                <a:solidFill>
                  <a:srgbClr val="F7FAFC"/>
                </a:solidFill>
                <a:latin typeface="Arial"/>
                <a:ea typeface="Arial"/>
                <a:cs typeface="Arial"/>
                <a:sym typeface="Arial"/>
              </a:rPr>
              <a:t>Por qué PCA no va con LightGBM</a:t>
            </a:r>
            <a:endParaRPr sz="2200">
              <a:solidFill>
                <a:schemeClr val="dk1"/>
              </a:solidFill>
              <a:latin typeface="Arial"/>
              <a:ea typeface="Arial"/>
              <a:cs typeface="Arial"/>
              <a:sym typeface="Arial"/>
            </a:endParaRPr>
          </a:p>
        </p:txBody>
      </p:sp>
      <p:sp>
        <p:nvSpPr>
          <p:cNvPr id="124" name="Google Shape;124;p8"/>
          <p:cNvSpPr/>
          <p:nvPr/>
        </p:nvSpPr>
        <p:spPr>
          <a:xfrm>
            <a:off x="10652760" y="173736"/>
            <a:ext cx="10058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1000"/>
              <a:buFont typeface="Arial"/>
              <a:buNone/>
            </a:pPr>
            <a:r>
              <a:rPr b="1" lang="en-US" sz="1000">
                <a:solidFill>
                  <a:srgbClr val="B8C7D9"/>
                </a:solidFill>
                <a:latin typeface="Arial"/>
                <a:ea typeface="Arial"/>
                <a:cs typeface="Arial"/>
                <a:sym typeface="Arial"/>
              </a:rPr>
              <a:t>7/9</a:t>
            </a:r>
            <a:endParaRPr sz="1000">
              <a:solidFill>
                <a:schemeClr val="dk1"/>
              </a:solidFill>
              <a:latin typeface="Arial"/>
              <a:ea typeface="Arial"/>
              <a:cs typeface="Arial"/>
              <a:sym typeface="Arial"/>
            </a:endParaRPr>
          </a:p>
        </p:txBody>
      </p:sp>
      <p:sp>
        <p:nvSpPr>
          <p:cNvPr id="125" name="Google Shape;125;p8"/>
          <p:cNvSpPr/>
          <p:nvPr/>
        </p:nvSpPr>
        <p:spPr>
          <a:xfrm>
            <a:off x="610310" y="1823483"/>
            <a:ext cx="3184450" cy="1702273"/>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spcBef>
                <a:spcPts val="0"/>
              </a:spcBef>
              <a:spcAft>
                <a:spcPts val="0"/>
              </a:spcAft>
              <a:buClr>
                <a:srgbClr val="F6C85F"/>
              </a:buClr>
              <a:buSzPts val="3000"/>
              <a:buFont typeface="Arial"/>
              <a:buNone/>
            </a:pPr>
            <a:r>
              <a:rPr b="1" lang="en-US" sz="3000">
                <a:solidFill>
                  <a:srgbClr val="F6C85F"/>
                </a:solidFill>
                <a:latin typeface="Arial"/>
                <a:ea typeface="Arial"/>
                <a:cs typeface="Arial"/>
                <a:sym typeface="Arial"/>
              </a:rPr>
              <a:t>1</a:t>
            </a:r>
            <a:br>
              <a:rPr b="1" lang="en-US" sz="3000">
                <a:solidFill>
                  <a:srgbClr val="F6C85F"/>
                </a:solidFill>
                <a:latin typeface="Arial"/>
                <a:ea typeface="Arial"/>
                <a:cs typeface="Arial"/>
                <a:sym typeface="Arial"/>
              </a:rPr>
            </a:br>
            <a:endParaRPr sz="3000">
              <a:solidFill>
                <a:schemeClr val="dk1"/>
              </a:solidFill>
              <a:latin typeface="Arial"/>
              <a:ea typeface="Arial"/>
              <a:cs typeface="Arial"/>
              <a:sym typeface="Arial"/>
            </a:endParaRPr>
          </a:p>
          <a:p>
            <a:pPr indent="0" lvl="0" marL="0" marR="0" rtl="0" algn="l">
              <a:spcBef>
                <a:spcPts val="0"/>
              </a:spcBef>
              <a:spcAft>
                <a:spcPts val="0"/>
              </a:spcAft>
              <a:buClr>
                <a:srgbClr val="F7FAFC"/>
              </a:buClr>
              <a:buSzPts val="1600"/>
              <a:buFont typeface="Arial"/>
              <a:buNone/>
            </a:pPr>
            <a:r>
              <a:rPr lang="en-US" sz="1600">
                <a:solidFill>
                  <a:srgbClr val="F7FAFC"/>
                </a:solidFill>
                <a:latin typeface="Arial"/>
                <a:ea typeface="Arial"/>
                <a:cs typeface="Arial"/>
                <a:sym typeface="Arial"/>
              </a:rPr>
              <a:t>Tratamiento de NA’s</a:t>
            </a:r>
            <a:endParaRPr sz="1600">
              <a:solidFill>
                <a:schemeClr val="dk1"/>
              </a:solidFill>
              <a:latin typeface="Arial"/>
              <a:ea typeface="Arial"/>
              <a:cs typeface="Arial"/>
              <a:sym typeface="Arial"/>
            </a:endParaRPr>
          </a:p>
        </p:txBody>
      </p:sp>
      <p:sp>
        <p:nvSpPr>
          <p:cNvPr id="126" name="Google Shape;126;p8"/>
          <p:cNvSpPr/>
          <p:nvPr/>
        </p:nvSpPr>
        <p:spPr>
          <a:xfrm>
            <a:off x="4565090" y="1823482"/>
            <a:ext cx="3184450" cy="1702273"/>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spcBef>
                <a:spcPts val="0"/>
              </a:spcBef>
              <a:spcAft>
                <a:spcPts val="0"/>
              </a:spcAft>
              <a:buClr>
                <a:srgbClr val="F6C85F"/>
              </a:buClr>
              <a:buSzPts val="3000"/>
              <a:buFont typeface="Arial"/>
              <a:buNone/>
            </a:pPr>
            <a:r>
              <a:rPr b="1" lang="en-US" sz="3000">
                <a:solidFill>
                  <a:srgbClr val="F6C85F"/>
                </a:solidFill>
                <a:latin typeface="Arial"/>
                <a:ea typeface="Arial"/>
                <a:cs typeface="Arial"/>
                <a:sym typeface="Arial"/>
              </a:rPr>
              <a:t>2</a:t>
            </a:r>
            <a:br>
              <a:rPr b="1" lang="en-US" sz="3000">
                <a:solidFill>
                  <a:srgbClr val="F6C85F"/>
                </a:solidFill>
                <a:latin typeface="Arial"/>
                <a:ea typeface="Arial"/>
                <a:cs typeface="Arial"/>
                <a:sym typeface="Arial"/>
              </a:rPr>
            </a:br>
            <a:endParaRPr sz="3000">
              <a:solidFill>
                <a:schemeClr val="dk1"/>
              </a:solidFill>
              <a:latin typeface="Arial"/>
              <a:ea typeface="Arial"/>
              <a:cs typeface="Arial"/>
              <a:sym typeface="Arial"/>
            </a:endParaRPr>
          </a:p>
          <a:p>
            <a:pPr indent="0" lvl="0" marL="0" marR="0" rtl="0" algn="l">
              <a:spcBef>
                <a:spcPts val="0"/>
              </a:spcBef>
              <a:spcAft>
                <a:spcPts val="0"/>
              </a:spcAft>
              <a:buNone/>
            </a:pPr>
            <a:r>
              <a:rPr lang="en-US" sz="1600">
                <a:solidFill>
                  <a:srgbClr val="F7FAFC"/>
                </a:solidFill>
                <a:latin typeface="Arial"/>
                <a:ea typeface="Arial"/>
                <a:cs typeface="Arial"/>
                <a:sym typeface="Arial"/>
              </a:rPr>
              <a:t>LightGBM ya selecciona variables útiles en los splits.</a:t>
            </a:r>
            <a:endParaRPr/>
          </a:p>
        </p:txBody>
      </p:sp>
      <p:sp>
        <p:nvSpPr>
          <p:cNvPr id="127" name="Google Shape;127;p8"/>
          <p:cNvSpPr/>
          <p:nvPr/>
        </p:nvSpPr>
        <p:spPr>
          <a:xfrm>
            <a:off x="8474150" y="1823483"/>
            <a:ext cx="3184450" cy="1702271"/>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spcBef>
                <a:spcPts val="0"/>
              </a:spcBef>
              <a:spcAft>
                <a:spcPts val="0"/>
              </a:spcAft>
              <a:buClr>
                <a:srgbClr val="F6C85F"/>
              </a:buClr>
              <a:buSzPts val="3000"/>
              <a:buFont typeface="Arial"/>
              <a:buNone/>
            </a:pPr>
            <a:r>
              <a:rPr b="1" lang="en-US" sz="3000">
                <a:solidFill>
                  <a:srgbClr val="F6C85F"/>
                </a:solidFill>
                <a:latin typeface="Arial"/>
                <a:ea typeface="Arial"/>
                <a:cs typeface="Arial"/>
                <a:sym typeface="Arial"/>
              </a:rPr>
              <a:t>3</a:t>
            </a:r>
            <a:br>
              <a:rPr b="1" lang="en-US" sz="3000">
                <a:solidFill>
                  <a:srgbClr val="F6C85F"/>
                </a:solidFill>
                <a:latin typeface="Arial"/>
                <a:ea typeface="Arial"/>
                <a:cs typeface="Arial"/>
                <a:sym typeface="Arial"/>
              </a:rPr>
            </a:br>
            <a:endParaRPr sz="3000">
              <a:solidFill>
                <a:schemeClr val="dk1"/>
              </a:solidFill>
              <a:latin typeface="Arial"/>
              <a:ea typeface="Arial"/>
              <a:cs typeface="Arial"/>
              <a:sym typeface="Arial"/>
            </a:endParaRPr>
          </a:p>
          <a:p>
            <a:pPr indent="0" lvl="0" marL="0" marR="0" rtl="0" algn="l">
              <a:spcBef>
                <a:spcPts val="0"/>
              </a:spcBef>
              <a:spcAft>
                <a:spcPts val="0"/>
              </a:spcAft>
              <a:buClr>
                <a:srgbClr val="F7FAFC"/>
              </a:buClr>
              <a:buSzPts val="1600"/>
              <a:buFont typeface="Arial"/>
              <a:buNone/>
            </a:pPr>
            <a:r>
              <a:rPr lang="en-US" sz="1600">
                <a:solidFill>
                  <a:srgbClr val="F7FAFC"/>
                </a:solidFill>
                <a:latin typeface="Arial"/>
                <a:ea typeface="Arial"/>
                <a:cs typeface="Arial"/>
                <a:sym typeface="Arial"/>
              </a:rPr>
              <a:t>Existen otras formas de mejorar tiempos de procesamiento sin afectar ganancias</a:t>
            </a:r>
            <a:endParaRPr sz="1600">
              <a:solidFill>
                <a:srgbClr val="F7FAFC"/>
              </a:solidFill>
              <a:latin typeface="Arial"/>
              <a:ea typeface="Arial"/>
              <a:cs typeface="Arial"/>
              <a:sym typeface="Arial"/>
            </a:endParaRPr>
          </a:p>
        </p:txBody>
      </p:sp>
      <p:sp>
        <p:nvSpPr>
          <p:cNvPr id="128" name="Google Shape;128;p8"/>
          <p:cNvSpPr/>
          <p:nvPr/>
        </p:nvSpPr>
        <p:spPr>
          <a:xfrm>
            <a:off x="754911" y="4160521"/>
            <a:ext cx="10241280" cy="1097280"/>
          </a:xfrm>
          <a:prstGeom prst="rect">
            <a:avLst/>
          </a:prstGeom>
          <a:noFill/>
          <a:ln>
            <a:noFill/>
          </a:ln>
        </p:spPr>
        <p:txBody>
          <a:bodyPr anchorCtr="0" anchor="ctr" bIns="375" lIns="375" spcFirstLastPara="1" rIns="375" wrap="square" tIns="375">
            <a:normAutofit/>
          </a:bodyPr>
          <a:lstStyle/>
          <a:p>
            <a:pPr indent="0" lvl="0" marL="0" marR="0" rtl="0" algn="ctr">
              <a:lnSpc>
                <a:spcPct val="90000"/>
              </a:lnSpc>
              <a:spcBef>
                <a:spcPts val="0"/>
              </a:spcBef>
              <a:spcAft>
                <a:spcPts val="0"/>
              </a:spcAft>
              <a:buClr>
                <a:srgbClr val="F7FAFC"/>
              </a:buClr>
              <a:buSzPts val="2500"/>
              <a:buFont typeface="Arial"/>
              <a:buNone/>
            </a:pPr>
            <a:r>
              <a:rPr b="1" lang="en-US" sz="2500">
                <a:solidFill>
                  <a:srgbClr val="F7FAFC"/>
                </a:solidFill>
                <a:latin typeface="Arial"/>
                <a:ea typeface="Arial"/>
                <a:cs typeface="Arial"/>
                <a:sym typeface="Arial"/>
              </a:rPr>
              <a:t>Conclusión </a:t>
            </a:r>
            <a:endParaRPr/>
          </a:p>
          <a:p>
            <a:pPr indent="0" lvl="0" marL="0" marR="0" rtl="0" algn="ctr">
              <a:lnSpc>
                <a:spcPct val="90000"/>
              </a:lnSpc>
              <a:spcBef>
                <a:spcPts val="0"/>
              </a:spcBef>
              <a:spcAft>
                <a:spcPts val="0"/>
              </a:spcAft>
              <a:buClr>
                <a:srgbClr val="F7FAFC"/>
              </a:buClr>
              <a:buSzPts val="2500"/>
              <a:buFont typeface="Arial"/>
              <a:buNone/>
            </a:pPr>
            <a:r>
              <a:rPr b="1" lang="en-US" sz="2500">
                <a:solidFill>
                  <a:srgbClr val="F7FAFC"/>
                </a:solidFill>
                <a:latin typeface="Arial"/>
                <a:ea typeface="Arial"/>
                <a:cs typeface="Arial"/>
                <a:sym typeface="Arial"/>
              </a:rPr>
              <a:t>PCA reduce dimensionalidad, pero no preserva la estructura que maximiza la ganancia del modelo de negocio.</a:t>
            </a:r>
            <a:endParaRPr sz="2500">
              <a:solidFill>
                <a:schemeClr val="dk1"/>
              </a:solidFill>
              <a:latin typeface="Arial"/>
              <a:ea typeface="Arial"/>
              <a:cs typeface="Arial"/>
              <a:sym typeface="Arial"/>
            </a:endParaRPr>
          </a:p>
        </p:txBody>
      </p:sp>
      <p:sp>
        <p:nvSpPr>
          <p:cNvPr id="129" name="Google Shape;129;p8"/>
          <p:cNvSpPr/>
          <p:nvPr/>
        </p:nvSpPr>
        <p:spPr>
          <a:xfrm>
            <a:off x="0" y="6547104"/>
            <a:ext cx="12191695" cy="310896"/>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8"/>
          <p:cNvSpPr/>
          <p:nvPr/>
        </p:nvSpPr>
        <p:spPr>
          <a:xfrm>
            <a:off x="11384280" y="6601968"/>
            <a:ext cx="320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800"/>
              <a:buFont typeface="Arial"/>
              <a:buNone/>
            </a:pPr>
            <a:r>
              <a:rPr lang="en-US" sz="800">
                <a:solidFill>
                  <a:srgbClr val="B8C7D9"/>
                </a:solidFill>
                <a:latin typeface="Arial"/>
                <a:ea typeface="Arial"/>
                <a:cs typeface="Arial"/>
                <a:sym typeface="Arial"/>
              </a:rPr>
              <a:t>7</a:t>
            </a:r>
            <a:endParaRPr sz="8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F33"/>
        </a:solidFill>
      </p:bgPr>
    </p:bg>
    <p:spTree>
      <p:nvGrpSpPr>
        <p:cNvPr id="135" name="Shape 135"/>
        <p:cNvGrpSpPr/>
        <p:nvPr/>
      </p:nvGrpSpPr>
      <p:grpSpPr>
        <a:xfrm>
          <a:off x="0" y="0"/>
          <a:ext cx="0" cy="0"/>
          <a:chOff x="0" y="0"/>
          <a:chExt cx="0" cy="0"/>
        </a:xfrm>
      </p:grpSpPr>
      <p:sp>
        <p:nvSpPr>
          <p:cNvPr id="136" name="Google Shape;136;p9"/>
          <p:cNvSpPr/>
          <p:nvPr/>
        </p:nvSpPr>
        <p:spPr>
          <a:xfrm>
            <a:off x="0" y="0"/>
            <a:ext cx="12191695" cy="640080"/>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 name="Google Shape;137;p9"/>
          <p:cNvSpPr/>
          <p:nvPr/>
        </p:nvSpPr>
        <p:spPr>
          <a:xfrm>
            <a:off x="502920" y="146304"/>
            <a:ext cx="9966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AFC"/>
              </a:buClr>
              <a:buSzPts val="2200"/>
              <a:buFont typeface="Arial"/>
              <a:buNone/>
            </a:pPr>
            <a:r>
              <a:rPr b="1" lang="en-US" sz="2200">
                <a:solidFill>
                  <a:srgbClr val="F7FAFC"/>
                </a:solidFill>
                <a:latin typeface="Arial"/>
                <a:ea typeface="Arial"/>
                <a:cs typeface="Arial"/>
                <a:sym typeface="Arial"/>
              </a:rPr>
              <a:t>Recomendación final</a:t>
            </a:r>
            <a:endParaRPr sz="2200">
              <a:solidFill>
                <a:schemeClr val="dk1"/>
              </a:solidFill>
              <a:latin typeface="Arial"/>
              <a:ea typeface="Arial"/>
              <a:cs typeface="Arial"/>
              <a:sym typeface="Arial"/>
            </a:endParaRPr>
          </a:p>
        </p:txBody>
      </p:sp>
      <p:sp>
        <p:nvSpPr>
          <p:cNvPr id="138" name="Google Shape;138;p9"/>
          <p:cNvSpPr/>
          <p:nvPr/>
        </p:nvSpPr>
        <p:spPr>
          <a:xfrm>
            <a:off x="10652760" y="173736"/>
            <a:ext cx="10058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1000"/>
              <a:buFont typeface="Arial"/>
              <a:buNone/>
            </a:pPr>
            <a:r>
              <a:rPr b="1" lang="en-US" sz="1000">
                <a:solidFill>
                  <a:srgbClr val="B8C7D9"/>
                </a:solidFill>
                <a:latin typeface="Arial"/>
                <a:ea typeface="Arial"/>
                <a:cs typeface="Arial"/>
                <a:sym typeface="Arial"/>
              </a:rPr>
              <a:t>8/9</a:t>
            </a:r>
            <a:endParaRPr sz="1000">
              <a:solidFill>
                <a:schemeClr val="dk1"/>
              </a:solidFill>
              <a:latin typeface="Arial"/>
              <a:ea typeface="Arial"/>
              <a:cs typeface="Arial"/>
              <a:sym typeface="Arial"/>
            </a:endParaRPr>
          </a:p>
        </p:txBody>
      </p:sp>
      <p:sp>
        <p:nvSpPr>
          <p:cNvPr id="139" name="Google Shape;139;p9"/>
          <p:cNvSpPr/>
          <p:nvPr/>
        </p:nvSpPr>
        <p:spPr>
          <a:xfrm>
            <a:off x="822960" y="1143000"/>
            <a:ext cx="4754880" cy="1417320"/>
          </a:xfrm>
          <a:prstGeom prst="rect">
            <a:avLst/>
          </a:prstGeom>
          <a:solidFill>
            <a:srgbClr val="173A5E"/>
          </a:solidFill>
          <a:ln cap="flat" cmpd="sng" w="9525">
            <a:solidFill>
              <a:srgbClr val="173A5E"/>
            </a:solidFill>
            <a:prstDash val="solid"/>
            <a:round/>
            <a:headEnd len="sm" w="sm" type="none"/>
            <a:tailEnd len="sm" w="sm" type="none"/>
          </a:ln>
        </p:spPr>
        <p:txBody>
          <a:bodyPr anchorCtr="0" anchor="ctr" bIns="1900" lIns="1900" spcFirstLastPara="1" rIns="1900" wrap="square" tIns="1900">
            <a:normAutofit/>
          </a:bodyPr>
          <a:lstStyle/>
          <a:p>
            <a:pPr indent="0" lvl="0" marL="0" marR="0" rtl="0" algn="l">
              <a:spcBef>
                <a:spcPts val="0"/>
              </a:spcBef>
              <a:spcAft>
                <a:spcPts val="0"/>
              </a:spcAft>
              <a:buClr>
                <a:srgbClr val="F26D5B"/>
              </a:buClr>
              <a:buSzPts val="3000"/>
              <a:buFont typeface="Arial"/>
              <a:buNone/>
            </a:pPr>
            <a:r>
              <a:rPr b="1" lang="en-US" sz="3000">
                <a:solidFill>
                  <a:srgbClr val="F26D5B"/>
                </a:solidFill>
                <a:latin typeface="Arial"/>
                <a:ea typeface="Arial"/>
                <a:cs typeface="Arial"/>
                <a:sym typeface="Arial"/>
              </a:rPr>
              <a:t>No incorporar PCA</a:t>
            </a:r>
            <a:br>
              <a:rPr b="1" lang="en-US" sz="3000">
                <a:solidFill>
                  <a:srgbClr val="F26D5B"/>
                </a:solidFill>
                <a:latin typeface="Arial"/>
                <a:ea typeface="Arial"/>
                <a:cs typeface="Arial"/>
                <a:sym typeface="Arial"/>
              </a:rPr>
            </a:br>
            <a:endParaRPr sz="3000">
              <a:solidFill>
                <a:schemeClr val="dk1"/>
              </a:solidFill>
              <a:latin typeface="Arial"/>
              <a:ea typeface="Arial"/>
              <a:cs typeface="Arial"/>
              <a:sym typeface="Arial"/>
            </a:endParaRPr>
          </a:p>
          <a:p>
            <a:pPr indent="0" lvl="0" marL="0" marR="0" rtl="0" algn="l">
              <a:spcBef>
                <a:spcPts val="0"/>
              </a:spcBef>
              <a:spcAft>
                <a:spcPts val="0"/>
              </a:spcAft>
              <a:buClr>
                <a:srgbClr val="F7FAFC"/>
              </a:buClr>
              <a:buSzPts val="1250"/>
              <a:buFont typeface="Arial"/>
              <a:buNone/>
            </a:pPr>
            <a:r>
              <a:rPr lang="en-US" sz="1250">
                <a:solidFill>
                  <a:srgbClr val="F7FAFC"/>
                </a:solidFill>
                <a:latin typeface="Arial"/>
                <a:ea typeface="Arial"/>
                <a:cs typeface="Arial"/>
                <a:sym typeface="Arial"/>
              </a:rPr>
              <a:t>Resumen comparativo</a:t>
            </a:r>
            <a:endParaRPr sz="3000">
              <a:solidFill>
                <a:schemeClr val="dk1"/>
              </a:solidFill>
              <a:latin typeface="Arial"/>
              <a:ea typeface="Arial"/>
              <a:cs typeface="Arial"/>
              <a:sym typeface="Arial"/>
            </a:endParaRPr>
          </a:p>
        </p:txBody>
      </p:sp>
      <p:sp>
        <p:nvSpPr>
          <p:cNvPr id="140" name="Google Shape;140;p9"/>
          <p:cNvSpPr/>
          <p:nvPr/>
        </p:nvSpPr>
        <p:spPr>
          <a:xfrm>
            <a:off x="822960" y="2880360"/>
            <a:ext cx="3559759" cy="448056"/>
          </a:xfrm>
          <a:prstGeom prst="rect">
            <a:avLst/>
          </a:prstGeom>
          <a:solidFill>
            <a:srgbClr val="145C9E"/>
          </a:solidFill>
          <a:ln cap="flat" cmpd="sng" w="9525">
            <a:solidFill>
              <a:srgbClr val="FFFFFF"/>
            </a:solidFill>
            <a:prstDash val="solid"/>
            <a:round/>
            <a:headEnd len="sm" w="sm" type="none"/>
            <a:tailEnd len="sm" w="sm" type="none"/>
          </a:ln>
        </p:spPr>
        <p:txBody>
          <a:bodyPr anchorCtr="0" anchor="ctr" bIns="375" lIns="375" spcFirstLastPara="1" rIns="375" wrap="square" tIns="375">
            <a:normAutofit/>
          </a:bodyPr>
          <a:lstStyle/>
          <a:p>
            <a:pPr indent="0" lvl="0" marL="0" marR="0" rtl="0" algn="ctr">
              <a:spcBef>
                <a:spcPts val="0"/>
              </a:spcBef>
              <a:spcAft>
                <a:spcPts val="0"/>
              </a:spcAft>
              <a:buClr>
                <a:srgbClr val="FFFFFF"/>
              </a:buClr>
              <a:buSzPts val="1050"/>
              <a:buFont typeface="Arial"/>
              <a:buNone/>
            </a:pPr>
            <a:r>
              <a:rPr b="1" lang="en-US" sz="1050">
                <a:solidFill>
                  <a:srgbClr val="FFFFFF"/>
                </a:solidFill>
                <a:latin typeface="Arial"/>
                <a:ea typeface="Arial"/>
                <a:cs typeface="Arial"/>
                <a:sym typeface="Arial"/>
              </a:rPr>
              <a:t>Métrica</a:t>
            </a:r>
            <a:endParaRPr sz="1050">
              <a:solidFill>
                <a:schemeClr val="dk1"/>
              </a:solidFill>
              <a:latin typeface="Arial"/>
              <a:ea typeface="Arial"/>
              <a:cs typeface="Arial"/>
              <a:sym typeface="Arial"/>
            </a:endParaRPr>
          </a:p>
        </p:txBody>
      </p:sp>
      <p:sp>
        <p:nvSpPr>
          <p:cNvPr id="141" name="Google Shape;141;p9"/>
          <p:cNvSpPr/>
          <p:nvPr/>
        </p:nvSpPr>
        <p:spPr>
          <a:xfrm>
            <a:off x="4382719" y="2880360"/>
            <a:ext cx="2198675" cy="448056"/>
          </a:xfrm>
          <a:prstGeom prst="rect">
            <a:avLst/>
          </a:prstGeom>
          <a:solidFill>
            <a:srgbClr val="145C9E"/>
          </a:solidFill>
          <a:ln cap="flat" cmpd="sng" w="9525">
            <a:solidFill>
              <a:srgbClr val="FFFFFF"/>
            </a:solidFill>
            <a:prstDash val="solid"/>
            <a:round/>
            <a:headEnd len="sm" w="sm" type="none"/>
            <a:tailEnd len="sm" w="sm" type="none"/>
          </a:ln>
        </p:spPr>
        <p:txBody>
          <a:bodyPr anchorCtr="0" anchor="ctr" bIns="375" lIns="375" spcFirstLastPara="1" rIns="375" wrap="square" tIns="375">
            <a:normAutofit/>
          </a:bodyPr>
          <a:lstStyle/>
          <a:p>
            <a:pPr indent="0" lvl="0" marL="0" marR="0" rtl="0" algn="ctr">
              <a:spcBef>
                <a:spcPts val="0"/>
              </a:spcBef>
              <a:spcAft>
                <a:spcPts val="0"/>
              </a:spcAft>
              <a:buClr>
                <a:srgbClr val="FFFFFF"/>
              </a:buClr>
              <a:buSzPts val="1050"/>
              <a:buFont typeface="Arial"/>
              <a:buNone/>
            </a:pPr>
            <a:r>
              <a:rPr b="1" lang="en-US" sz="1050">
                <a:solidFill>
                  <a:srgbClr val="FFFFFF"/>
                </a:solidFill>
                <a:latin typeface="Arial"/>
                <a:ea typeface="Arial"/>
                <a:cs typeface="Arial"/>
                <a:sym typeface="Arial"/>
              </a:rPr>
              <a:t>PCA vs original</a:t>
            </a:r>
            <a:endParaRPr sz="1050">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050"/>
              <a:buFont typeface="Arial"/>
              <a:buNone/>
            </a:pPr>
            <a:r>
              <a:rPr b="1" lang="en-US" sz="1050">
                <a:solidFill>
                  <a:srgbClr val="FFFFFF"/>
                </a:solidFill>
                <a:latin typeface="Arial"/>
                <a:ea typeface="Arial"/>
                <a:cs typeface="Arial"/>
                <a:sym typeface="Arial"/>
              </a:rPr>
              <a:t>sin FE</a:t>
            </a:r>
            <a:endParaRPr sz="1050">
              <a:solidFill>
                <a:schemeClr val="dk1"/>
              </a:solidFill>
              <a:latin typeface="Arial"/>
              <a:ea typeface="Arial"/>
              <a:cs typeface="Arial"/>
              <a:sym typeface="Arial"/>
            </a:endParaRPr>
          </a:p>
        </p:txBody>
      </p:sp>
      <p:sp>
        <p:nvSpPr>
          <p:cNvPr id="142" name="Google Shape;142;p9"/>
          <p:cNvSpPr/>
          <p:nvPr/>
        </p:nvSpPr>
        <p:spPr>
          <a:xfrm>
            <a:off x="6581394" y="2880360"/>
            <a:ext cx="2198675" cy="448056"/>
          </a:xfrm>
          <a:prstGeom prst="rect">
            <a:avLst/>
          </a:prstGeom>
          <a:solidFill>
            <a:srgbClr val="145C9E"/>
          </a:solidFill>
          <a:ln cap="flat" cmpd="sng" w="9525">
            <a:solidFill>
              <a:srgbClr val="FFFFFF"/>
            </a:solidFill>
            <a:prstDash val="solid"/>
            <a:round/>
            <a:headEnd len="sm" w="sm" type="none"/>
            <a:tailEnd len="sm" w="sm" type="none"/>
          </a:ln>
        </p:spPr>
        <p:txBody>
          <a:bodyPr anchorCtr="0" anchor="ctr" bIns="375" lIns="375" spcFirstLastPara="1" rIns="375" wrap="square" tIns="375">
            <a:normAutofit/>
          </a:bodyPr>
          <a:lstStyle/>
          <a:p>
            <a:pPr indent="0" lvl="0" marL="0" marR="0" rtl="0" algn="ctr">
              <a:spcBef>
                <a:spcPts val="0"/>
              </a:spcBef>
              <a:spcAft>
                <a:spcPts val="0"/>
              </a:spcAft>
              <a:buClr>
                <a:srgbClr val="FFFFFF"/>
              </a:buClr>
              <a:buSzPts val="1050"/>
              <a:buFont typeface="Arial"/>
              <a:buNone/>
            </a:pPr>
            <a:r>
              <a:rPr b="1" lang="en-US" sz="1050">
                <a:solidFill>
                  <a:srgbClr val="FFFFFF"/>
                </a:solidFill>
                <a:latin typeface="Arial"/>
                <a:ea typeface="Arial"/>
                <a:cs typeface="Arial"/>
                <a:sym typeface="Arial"/>
              </a:rPr>
              <a:t>PCA vs original</a:t>
            </a:r>
            <a:endParaRPr sz="1050">
              <a:solidFill>
                <a:schemeClr val="dk1"/>
              </a:solidFill>
              <a:latin typeface="Arial"/>
              <a:ea typeface="Arial"/>
              <a:cs typeface="Arial"/>
              <a:sym typeface="Arial"/>
            </a:endParaRPr>
          </a:p>
          <a:p>
            <a:pPr indent="0" lvl="0" marL="0" marR="0" rtl="0" algn="ctr">
              <a:spcBef>
                <a:spcPts val="0"/>
              </a:spcBef>
              <a:spcAft>
                <a:spcPts val="0"/>
              </a:spcAft>
              <a:buClr>
                <a:srgbClr val="FFFFFF"/>
              </a:buClr>
              <a:buSzPts val="1050"/>
              <a:buFont typeface="Arial"/>
              <a:buNone/>
            </a:pPr>
            <a:r>
              <a:rPr b="1" lang="en-US" sz="1050">
                <a:solidFill>
                  <a:srgbClr val="FFFFFF"/>
                </a:solidFill>
                <a:latin typeface="Arial"/>
                <a:ea typeface="Arial"/>
                <a:cs typeface="Arial"/>
                <a:sym typeface="Arial"/>
              </a:rPr>
              <a:t>con FE</a:t>
            </a:r>
            <a:endParaRPr sz="1050">
              <a:solidFill>
                <a:schemeClr val="dk1"/>
              </a:solidFill>
              <a:latin typeface="Arial"/>
              <a:ea typeface="Arial"/>
              <a:cs typeface="Arial"/>
              <a:sym typeface="Arial"/>
            </a:endParaRPr>
          </a:p>
        </p:txBody>
      </p:sp>
      <p:sp>
        <p:nvSpPr>
          <p:cNvPr id="143" name="Google Shape;143;p9"/>
          <p:cNvSpPr/>
          <p:nvPr/>
        </p:nvSpPr>
        <p:spPr>
          <a:xfrm>
            <a:off x="8780069" y="2880360"/>
            <a:ext cx="2512771" cy="448056"/>
          </a:xfrm>
          <a:prstGeom prst="rect">
            <a:avLst/>
          </a:prstGeom>
          <a:solidFill>
            <a:srgbClr val="145C9E"/>
          </a:solidFill>
          <a:ln cap="flat" cmpd="sng" w="9525">
            <a:solidFill>
              <a:srgbClr val="FFFFFF"/>
            </a:solidFill>
            <a:prstDash val="solid"/>
            <a:round/>
            <a:headEnd len="sm" w="sm" type="none"/>
            <a:tailEnd len="sm" w="sm" type="none"/>
          </a:ln>
        </p:spPr>
        <p:txBody>
          <a:bodyPr anchorCtr="0" anchor="ctr" bIns="375" lIns="375" spcFirstLastPara="1" rIns="375" wrap="square" tIns="375">
            <a:normAutofit/>
          </a:bodyPr>
          <a:lstStyle/>
          <a:p>
            <a:pPr indent="0" lvl="0" marL="0" marR="0" rtl="0" algn="ctr">
              <a:spcBef>
                <a:spcPts val="0"/>
              </a:spcBef>
              <a:spcAft>
                <a:spcPts val="0"/>
              </a:spcAft>
              <a:buClr>
                <a:srgbClr val="FFFFFF"/>
              </a:buClr>
              <a:buSzPts val="1050"/>
              <a:buFont typeface="Arial"/>
              <a:buNone/>
            </a:pPr>
            <a:r>
              <a:rPr b="1" lang="en-US" sz="1050">
                <a:solidFill>
                  <a:srgbClr val="FFFFFF"/>
                </a:solidFill>
                <a:latin typeface="Arial"/>
                <a:ea typeface="Arial"/>
                <a:cs typeface="Arial"/>
                <a:sym typeface="Arial"/>
              </a:rPr>
              <a:t>Lectura</a:t>
            </a:r>
            <a:endParaRPr sz="1050">
              <a:solidFill>
                <a:schemeClr val="dk1"/>
              </a:solidFill>
              <a:latin typeface="Arial"/>
              <a:ea typeface="Arial"/>
              <a:cs typeface="Arial"/>
              <a:sym typeface="Arial"/>
            </a:endParaRPr>
          </a:p>
        </p:txBody>
      </p:sp>
      <p:sp>
        <p:nvSpPr>
          <p:cNvPr id="144" name="Google Shape;144;p9"/>
          <p:cNvSpPr/>
          <p:nvPr/>
        </p:nvSpPr>
        <p:spPr>
          <a:xfrm>
            <a:off x="822960" y="3328416"/>
            <a:ext cx="3559759" cy="448056"/>
          </a:xfrm>
          <a:prstGeom prst="rect">
            <a:avLst/>
          </a:prstGeom>
          <a:solidFill>
            <a:srgbClr val="FFFFFF"/>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l">
              <a:spcBef>
                <a:spcPts val="0"/>
              </a:spcBef>
              <a:spcAft>
                <a:spcPts val="0"/>
              </a:spcAft>
              <a:buClr>
                <a:srgbClr val="172B4D"/>
              </a:buClr>
              <a:buSzPts val="1050"/>
              <a:buFont typeface="Arial"/>
              <a:buNone/>
            </a:pPr>
            <a:r>
              <a:rPr lang="en-US" sz="1050">
                <a:solidFill>
                  <a:srgbClr val="172B4D"/>
                </a:solidFill>
                <a:latin typeface="Arial"/>
                <a:ea typeface="Arial"/>
                <a:cs typeface="Arial"/>
                <a:sym typeface="Arial"/>
              </a:rPr>
              <a:t>Ganancia media</a:t>
            </a:r>
            <a:endParaRPr sz="1050">
              <a:solidFill>
                <a:schemeClr val="dk1"/>
              </a:solidFill>
              <a:latin typeface="Arial"/>
              <a:ea typeface="Arial"/>
              <a:cs typeface="Arial"/>
              <a:sym typeface="Arial"/>
            </a:endParaRPr>
          </a:p>
        </p:txBody>
      </p:sp>
      <p:sp>
        <p:nvSpPr>
          <p:cNvPr id="145" name="Google Shape;145;p9"/>
          <p:cNvSpPr/>
          <p:nvPr/>
        </p:nvSpPr>
        <p:spPr>
          <a:xfrm>
            <a:off x="4382719" y="3328416"/>
            <a:ext cx="2198675" cy="448056"/>
          </a:xfrm>
          <a:prstGeom prst="rect">
            <a:avLst/>
          </a:prstGeom>
          <a:solidFill>
            <a:srgbClr val="FBE9EC"/>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C64756"/>
              </a:buClr>
              <a:buSzPts val="1100"/>
              <a:buFont typeface="Arial"/>
              <a:buNone/>
            </a:pPr>
            <a:r>
              <a:rPr b="1" lang="en-US" sz="1100">
                <a:solidFill>
                  <a:srgbClr val="C64756"/>
                </a:solidFill>
                <a:latin typeface="Arial"/>
                <a:ea typeface="Arial"/>
                <a:cs typeface="Arial"/>
                <a:sym typeface="Arial"/>
              </a:rPr>
              <a:t>-11,8%</a:t>
            </a:r>
            <a:endParaRPr sz="1100">
              <a:solidFill>
                <a:schemeClr val="dk1"/>
              </a:solidFill>
              <a:latin typeface="Arial"/>
              <a:ea typeface="Arial"/>
              <a:cs typeface="Arial"/>
              <a:sym typeface="Arial"/>
            </a:endParaRPr>
          </a:p>
        </p:txBody>
      </p:sp>
      <p:sp>
        <p:nvSpPr>
          <p:cNvPr id="146" name="Google Shape;146;p9"/>
          <p:cNvSpPr/>
          <p:nvPr/>
        </p:nvSpPr>
        <p:spPr>
          <a:xfrm>
            <a:off x="6581394" y="3328416"/>
            <a:ext cx="2198675" cy="448056"/>
          </a:xfrm>
          <a:prstGeom prst="rect">
            <a:avLst/>
          </a:prstGeom>
          <a:solidFill>
            <a:srgbClr val="FBE9EC"/>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C64756"/>
              </a:buClr>
              <a:buSzPts val="1100"/>
              <a:buFont typeface="Arial"/>
              <a:buNone/>
            </a:pPr>
            <a:r>
              <a:rPr b="1" lang="en-US" sz="1100">
                <a:solidFill>
                  <a:srgbClr val="C64756"/>
                </a:solidFill>
                <a:latin typeface="Arial"/>
                <a:ea typeface="Arial"/>
                <a:cs typeface="Arial"/>
                <a:sym typeface="Arial"/>
              </a:rPr>
              <a:t>-10,9%</a:t>
            </a:r>
            <a:endParaRPr sz="1100">
              <a:solidFill>
                <a:schemeClr val="dk1"/>
              </a:solidFill>
              <a:latin typeface="Arial"/>
              <a:ea typeface="Arial"/>
              <a:cs typeface="Arial"/>
              <a:sym typeface="Arial"/>
            </a:endParaRPr>
          </a:p>
        </p:txBody>
      </p:sp>
      <p:sp>
        <p:nvSpPr>
          <p:cNvPr id="147" name="Google Shape;147;p9"/>
          <p:cNvSpPr/>
          <p:nvPr/>
        </p:nvSpPr>
        <p:spPr>
          <a:xfrm>
            <a:off x="8780069" y="3328416"/>
            <a:ext cx="2512771" cy="448056"/>
          </a:xfrm>
          <a:prstGeom prst="rect">
            <a:avLst/>
          </a:prstGeom>
          <a:solidFill>
            <a:srgbClr val="FFFFFF"/>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172B4D"/>
              </a:buClr>
              <a:buSzPts val="1100"/>
              <a:buFont typeface="Arial"/>
              <a:buNone/>
            </a:pPr>
            <a:r>
              <a:rPr lang="en-US" sz="1100">
                <a:solidFill>
                  <a:srgbClr val="172B4D"/>
                </a:solidFill>
                <a:latin typeface="Arial"/>
                <a:ea typeface="Arial"/>
                <a:cs typeface="Arial"/>
                <a:sym typeface="Arial"/>
              </a:rPr>
              <a:t>Menor es peor</a:t>
            </a:r>
            <a:endParaRPr sz="1100">
              <a:solidFill>
                <a:schemeClr val="dk1"/>
              </a:solidFill>
              <a:latin typeface="Arial"/>
              <a:ea typeface="Arial"/>
              <a:cs typeface="Arial"/>
              <a:sym typeface="Arial"/>
            </a:endParaRPr>
          </a:p>
        </p:txBody>
      </p:sp>
      <p:sp>
        <p:nvSpPr>
          <p:cNvPr id="148" name="Google Shape;148;p9"/>
          <p:cNvSpPr/>
          <p:nvPr/>
        </p:nvSpPr>
        <p:spPr>
          <a:xfrm>
            <a:off x="822960" y="3776472"/>
            <a:ext cx="3559759" cy="448056"/>
          </a:xfrm>
          <a:prstGeom prst="rect">
            <a:avLst/>
          </a:prstGeom>
          <a:solidFill>
            <a:srgbClr val="FFFFFF"/>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l">
              <a:spcBef>
                <a:spcPts val="0"/>
              </a:spcBef>
              <a:spcAft>
                <a:spcPts val="0"/>
              </a:spcAft>
              <a:buClr>
                <a:srgbClr val="172B4D"/>
              </a:buClr>
              <a:buSzPts val="1050"/>
              <a:buFont typeface="Arial"/>
              <a:buNone/>
            </a:pPr>
            <a:r>
              <a:rPr lang="en-US" sz="1050">
                <a:solidFill>
                  <a:srgbClr val="172B4D"/>
                </a:solidFill>
                <a:latin typeface="Arial"/>
                <a:ea typeface="Arial"/>
                <a:cs typeface="Arial"/>
                <a:sym typeface="Arial"/>
              </a:rPr>
              <a:t>Tiempo total</a:t>
            </a:r>
            <a:endParaRPr sz="1050">
              <a:solidFill>
                <a:schemeClr val="dk1"/>
              </a:solidFill>
              <a:latin typeface="Arial"/>
              <a:ea typeface="Arial"/>
              <a:cs typeface="Arial"/>
              <a:sym typeface="Arial"/>
            </a:endParaRPr>
          </a:p>
        </p:txBody>
      </p:sp>
      <p:sp>
        <p:nvSpPr>
          <p:cNvPr id="149" name="Google Shape;149;p9"/>
          <p:cNvSpPr/>
          <p:nvPr/>
        </p:nvSpPr>
        <p:spPr>
          <a:xfrm>
            <a:off x="4382719" y="3776472"/>
            <a:ext cx="2198675" cy="448056"/>
          </a:xfrm>
          <a:prstGeom prst="rect">
            <a:avLst/>
          </a:prstGeom>
          <a:solidFill>
            <a:srgbClr val="FBE9EC"/>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C64756"/>
              </a:buClr>
              <a:buSzPts val="1100"/>
              <a:buFont typeface="Arial"/>
              <a:buNone/>
            </a:pPr>
            <a:r>
              <a:rPr b="1" lang="en-US" sz="1100">
                <a:solidFill>
                  <a:srgbClr val="C64756"/>
                </a:solidFill>
                <a:latin typeface="Arial"/>
                <a:ea typeface="Arial"/>
                <a:cs typeface="Arial"/>
                <a:sym typeface="Arial"/>
              </a:rPr>
              <a:t>+35,5%</a:t>
            </a:r>
            <a:endParaRPr sz="1100">
              <a:solidFill>
                <a:schemeClr val="dk1"/>
              </a:solidFill>
              <a:latin typeface="Arial"/>
              <a:ea typeface="Arial"/>
              <a:cs typeface="Arial"/>
              <a:sym typeface="Arial"/>
            </a:endParaRPr>
          </a:p>
        </p:txBody>
      </p:sp>
      <p:sp>
        <p:nvSpPr>
          <p:cNvPr id="150" name="Google Shape;150;p9"/>
          <p:cNvSpPr/>
          <p:nvPr/>
        </p:nvSpPr>
        <p:spPr>
          <a:xfrm>
            <a:off x="6581394" y="3776472"/>
            <a:ext cx="2198675" cy="448056"/>
          </a:xfrm>
          <a:prstGeom prst="rect">
            <a:avLst/>
          </a:prstGeom>
          <a:solidFill>
            <a:srgbClr val="FBE9EC"/>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C64756"/>
              </a:buClr>
              <a:buSzPts val="1100"/>
              <a:buFont typeface="Arial"/>
              <a:buNone/>
            </a:pPr>
            <a:r>
              <a:rPr b="1" lang="en-US" sz="1100">
                <a:solidFill>
                  <a:srgbClr val="C64756"/>
                </a:solidFill>
                <a:latin typeface="Arial"/>
                <a:ea typeface="Arial"/>
                <a:cs typeface="Arial"/>
                <a:sym typeface="Arial"/>
              </a:rPr>
              <a:t>+61,7%</a:t>
            </a:r>
            <a:endParaRPr sz="1100">
              <a:solidFill>
                <a:schemeClr val="dk1"/>
              </a:solidFill>
              <a:latin typeface="Arial"/>
              <a:ea typeface="Arial"/>
              <a:cs typeface="Arial"/>
              <a:sym typeface="Arial"/>
            </a:endParaRPr>
          </a:p>
        </p:txBody>
      </p:sp>
      <p:sp>
        <p:nvSpPr>
          <p:cNvPr id="151" name="Google Shape;151;p9"/>
          <p:cNvSpPr/>
          <p:nvPr/>
        </p:nvSpPr>
        <p:spPr>
          <a:xfrm>
            <a:off x="8780069" y="3776472"/>
            <a:ext cx="2512771" cy="448056"/>
          </a:xfrm>
          <a:prstGeom prst="rect">
            <a:avLst/>
          </a:prstGeom>
          <a:solidFill>
            <a:srgbClr val="FFFFFF"/>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172B4D"/>
              </a:buClr>
              <a:buSzPts val="1100"/>
              <a:buFont typeface="Arial"/>
              <a:buNone/>
            </a:pPr>
            <a:r>
              <a:rPr lang="en-US" sz="1100">
                <a:solidFill>
                  <a:srgbClr val="172B4D"/>
                </a:solidFill>
                <a:latin typeface="Arial"/>
                <a:ea typeface="Arial"/>
                <a:cs typeface="Arial"/>
                <a:sym typeface="Arial"/>
              </a:rPr>
              <a:t>Mayor es peor</a:t>
            </a:r>
            <a:endParaRPr sz="1100">
              <a:solidFill>
                <a:schemeClr val="dk1"/>
              </a:solidFill>
              <a:latin typeface="Arial"/>
              <a:ea typeface="Arial"/>
              <a:cs typeface="Arial"/>
              <a:sym typeface="Arial"/>
            </a:endParaRPr>
          </a:p>
        </p:txBody>
      </p:sp>
      <p:sp>
        <p:nvSpPr>
          <p:cNvPr id="152" name="Google Shape;152;p9"/>
          <p:cNvSpPr/>
          <p:nvPr/>
        </p:nvSpPr>
        <p:spPr>
          <a:xfrm>
            <a:off x="822960" y="4224528"/>
            <a:ext cx="3559759" cy="448056"/>
          </a:xfrm>
          <a:prstGeom prst="rect">
            <a:avLst/>
          </a:prstGeom>
          <a:solidFill>
            <a:srgbClr val="FFFFFF"/>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l">
              <a:spcBef>
                <a:spcPts val="0"/>
              </a:spcBef>
              <a:spcAft>
                <a:spcPts val="0"/>
              </a:spcAft>
              <a:buClr>
                <a:srgbClr val="172B4D"/>
              </a:buClr>
              <a:buSzPts val="1050"/>
              <a:buFont typeface="Arial"/>
              <a:buNone/>
            </a:pPr>
            <a:r>
              <a:rPr lang="en-US" sz="1050">
                <a:solidFill>
                  <a:srgbClr val="172B4D"/>
                </a:solidFill>
                <a:latin typeface="Arial"/>
                <a:ea typeface="Arial"/>
                <a:cs typeface="Arial"/>
                <a:sym typeface="Arial"/>
              </a:rPr>
              <a:t>Cantidad de envíos</a:t>
            </a:r>
            <a:endParaRPr sz="1050">
              <a:solidFill>
                <a:schemeClr val="dk1"/>
              </a:solidFill>
              <a:latin typeface="Arial"/>
              <a:ea typeface="Arial"/>
              <a:cs typeface="Arial"/>
              <a:sym typeface="Arial"/>
            </a:endParaRPr>
          </a:p>
        </p:txBody>
      </p:sp>
      <p:sp>
        <p:nvSpPr>
          <p:cNvPr id="153" name="Google Shape;153;p9"/>
          <p:cNvSpPr/>
          <p:nvPr/>
        </p:nvSpPr>
        <p:spPr>
          <a:xfrm>
            <a:off x="4382719" y="4224528"/>
            <a:ext cx="2198675" cy="448056"/>
          </a:xfrm>
          <a:prstGeom prst="rect">
            <a:avLst/>
          </a:prstGeom>
          <a:solidFill>
            <a:srgbClr val="FBE9EC"/>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C64756"/>
              </a:buClr>
              <a:buSzPts val="1100"/>
              <a:buFont typeface="Arial"/>
              <a:buNone/>
            </a:pPr>
            <a:r>
              <a:rPr b="1" lang="en-US" sz="1100">
                <a:solidFill>
                  <a:srgbClr val="C64756"/>
                </a:solidFill>
                <a:latin typeface="Arial"/>
                <a:ea typeface="Arial"/>
                <a:cs typeface="Arial"/>
                <a:sym typeface="Arial"/>
              </a:rPr>
              <a:t>+52,0%</a:t>
            </a:r>
            <a:endParaRPr sz="1100">
              <a:solidFill>
                <a:schemeClr val="dk1"/>
              </a:solidFill>
              <a:latin typeface="Arial"/>
              <a:ea typeface="Arial"/>
              <a:cs typeface="Arial"/>
              <a:sym typeface="Arial"/>
            </a:endParaRPr>
          </a:p>
        </p:txBody>
      </p:sp>
      <p:sp>
        <p:nvSpPr>
          <p:cNvPr id="154" name="Google Shape;154;p9"/>
          <p:cNvSpPr/>
          <p:nvPr/>
        </p:nvSpPr>
        <p:spPr>
          <a:xfrm>
            <a:off x="6581394" y="4224528"/>
            <a:ext cx="2198675" cy="448056"/>
          </a:xfrm>
          <a:prstGeom prst="rect">
            <a:avLst/>
          </a:prstGeom>
          <a:solidFill>
            <a:srgbClr val="FBE9EC"/>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C64756"/>
              </a:buClr>
              <a:buSzPts val="1100"/>
              <a:buFont typeface="Arial"/>
              <a:buNone/>
            </a:pPr>
            <a:r>
              <a:rPr b="1" lang="en-US" sz="1100">
                <a:solidFill>
                  <a:srgbClr val="C64756"/>
                </a:solidFill>
                <a:latin typeface="Arial"/>
                <a:ea typeface="Arial"/>
                <a:cs typeface="Arial"/>
                <a:sym typeface="Arial"/>
              </a:rPr>
              <a:t>+31,3%</a:t>
            </a:r>
            <a:endParaRPr sz="1100">
              <a:solidFill>
                <a:schemeClr val="dk1"/>
              </a:solidFill>
              <a:latin typeface="Arial"/>
              <a:ea typeface="Arial"/>
              <a:cs typeface="Arial"/>
              <a:sym typeface="Arial"/>
            </a:endParaRPr>
          </a:p>
        </p:txBody>
      </p:sp>
      <p:sp>
        <p:nvSpPr>
          <p:cNvPr id="155" name="Google Shape;155;p9"/>
          <p:cNvSpPr/>
          <p:nvPr/>
        </p:nvSpPr>
        <p:spPr>
          <a:xfrm>
            <a:off x="8780069" y="4224528"/>
            <a:ext cx="2512771" cy="448056"/>
          </a:xfrm>
          <a:prstGeom prst="rect">
            <a:avLst/>
          </a:prstGeom>
          <a:solidFill>
            <a:srgbClr val="FFFFFF"/>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172B4D"/>
              </a:buClr>
              <a:buSzPts val="1100"/>
              <a:buFont typeface="Arial"/>
              <a:buNone/>
            </a:pPr>
            <a:r>
              <a:rPr lang="en-US" sz="1100">
                <a:solidFill>
                  <a:srgbClr val="172B4D"/>
                </a:solidFill>
                <a:latin typeface="Arial"/>
                <a:ea typeface="Arial"/>
                <a:cs typeface="Arial"/>
                <a:sym typeface="Arial"/>
              </a:rPr>
              <a:t>Mayor es peor</a:t>
            </a:r>
            <a:endParaRPr sz="1100">
              <a:solidFill>
                <a:schemeClr val="dk1"/>
              </a:solidFill>
              <a:latin typeface="Arial"/>
              <a:ea typeface="Arial"/>
              <a:cs typeface="Arial"/>
              <a:sym typeface="Arial"/>
            </a:endParaRPr>
          </a:p>
        </p:txBody>
      </p:sp>
      <p:sp>
        <p:nvSpPr>
          <p:cNvPr id="156" name="Google Shape;156;p9"/>
          <p:cNvSpPr/>
          <p:nvPr/>
        </p:nvSpPr>
        <p:spPr>
          <a:xfrm>
            <a:off x="822960" y="4672584"/>
            <a:ext cx="3559759" cy="448056"/>
          </a:xfrm>
          <a:prstGeom prst="rect">
            <a:avLst/>
          </a:prstGeom>
          <a:solidFill>
            <a:srgbClr val="FFFFFF"/>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l">
              <a:spcBef>
                <a:spcPts val="0"/>
              </a:spcBef>
              <a:spcAft>
                <a:spcPts val="0"/>
              </a:spcAft>
              <a:buClr>
                <a:srgbClr val="172B4D"/>
              </a:buClr>
              <a:buSzPts val="1050"/>
              <a:buFont typeface="Arial"/>
              <a:buNone/>
            </a:pPr>
            <a:r>
              <a:rPr lang="en-US" sz="1050">
                <a:solidFill>
                  <a:srgbClr val="172B4D"/>
                </a:solidFill>
                <a:latin typeface="Arial"/>
                <a:ea typeface="Arial"/>
                <a:cs typeface="Arial"/>
                <a:sym typeface="Arial"/>
              </a:rPr>
              <a:t>Ganancia/envío</a:t>
            </a:r>
            <a:endParaRPr sz="1050">
              <a:solidFill>
                <a:schemeClr val="dk1"/>
              </a:solidFill>
              <a:latin typeface="Arial"/>
              <a:ea typeface="Arial"/>
              <a:cs typeface="Arial"/>
              <a:sym typeface="Arial"/>
            </a:endParaRPr>
          </a:p>
        </p:txBody>
      </p:sp>
      <p:sp>
        <p:nvSpPr>
          <p:cNvPr id="157" name="Google Shape;157;p9"/>
          <p:cNvSpPr/>
          <p:nvPr/>
        </p:nvSpPr>
        <p:spPr>
          <a:xfrm>
            <a:off x="4382719" y="4672584"/>
            <a:ext cx="2198675" cy="448056"/>
          </a:xfrm>
          <a:prstGeom prst="rect">
            <a:avLst/>
          </a:prstGeom>
          <a:solidFill>
            <a:srgbClr val="FBE9EC"/>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C64756"/>
              </a:buClr>
              <a:buSzPts val="1100"/>
              <a:buFont typeface="Arial"/>
              <a:buNone/>
            </a:pPr>
            <a:r>
              <a:rPr b="1" lang="en-US" sz="1100">
                <a:solidFill>
                  <a:srgbClr val="C64756"/>
                </a:solidFill>
                <a:latin typeface="Arial"/>
                <a:ea typeface="Arial"/>
                <a:cs typeface="Arial"/>
                <a:sym typeface="Arial"/>
              </a:rPr>
              <a:t>-41,5%</a:t>
            </a:r>
            <a:endParaRPr sz="1100">
              <a:solidFill>
                <a:schemeClr val="dk1"/>
              </a:solidFill>
              <a:latin typeface="Arial"/>
              <a:ea typeface="Arial"/>
              <a:cs typeface="Arial"/>
              <a:sym typeface="Arial"/>
            </a:endParaRPr>
          </a:p>
        </p:txBody>
      </p:sp>
      <p:sp>
        <p:nvSpPr>
          <p:cNvPr id="158" name="Google Shape;158;p9"/>
          <p:cNvSpPr/>
          <p:nvPr/>
        </p:nvSpPr>
        <p:spPr>
          <a:xfrm>
            <a:off x="6581394" y="4672584"/>
            <a:ext cx="2198675" cy="448056"/>
          </a:xfrm>
          <a:prstGeom prst="rect">
            <a:avLst/>
          </a:prstGeom>
          <a:solidFill>
            <a:srgbClr val="FBE9EC"/>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C64756"/>
              </a:buClr>
              <a:buSzPts val="1100"/>
              <a:buFont typeface="Arial"/>
              <a:buNone/>
            </a:pPr>
            <a:r>
              <a:rPr b="1" lang="en-US" sz="1100">
                <a:solidFill>
                  <a:srgbClr val="C64756"/>
                </a:solidFill>
                <a:latin typeface="Arial"/>
                <a:ea typeface="Arial"/>
                <a:cs typeface="Arial"/>
                <a:sym typeface="Arial"/>
              </a:rPr>
              <a:t>-31,7%</a:t>
            </a:r>
            <a:endParaRPr sz="1100">
              <a:solidFill>
                <a:schemeClr val="dk1"/>
              </a:solidFill>
              <a:latin typeface="Arial"/>
              <a:ea typeface="Arial"/>
              <a:cs typeface="Arial"/>
              <a:sym typeface="Arial"/>
            </a:endParaRPr>
          </a:p>
        </p:txBody>
      </p:sp>
      <p:sp>
        <p:nvSpPr>
          <p:cNvPr id="159" name="Google Shape;159;p9"/>
          <p:cNvSpPr/>
          <p:nvPr/>
        </p:nvSpPr>
        <p:spPr>
          <a:xfrm>
            <a:off x="8780069" y="4672584"/>
            <a:ext cx="2512771" cy="448056"/>
          </a:xfrm>
          <a:prstGeom prst="rect">
            <a:avLst/>
          </a:prstGeom>
          <a:solidFill>
            <a:srgbClr val="FFFFFF"/>
          </a:solidFill>
          <a:ln cap="flat" cmpd="sng" w="9525">
            <a:solidFill>
              <a:srgbClr val="E1E7EF"/>
            </a:solidFill>
            <a:prstDash val="solid"/>
            <a:round/>
            <a:headEnd len="sm" w="sm" type="none"/>
            <a:tailEnd len="sm" w="sm" type="none"/>
          </a:ln>
        </p:spPr>
        <p:txBody>
          <a:bodyPr anchorCtr="0" anchor="ctr" bIns="625" lIns="625" spcFirstLastPara="1" rIns="625" wrap="square" tIns="625">
            <a:normAutofit/>
          </a:bodyPr>
          <a:lstStyle/>
          <a:p>
            <a:pPr indent="0" lvl="0" marL="0" marR="0" rtl="0" algn="ctr">
              <a:spcBef>
                <a:spcPts val="0"/>
              </a:spcBef>
              <a:spcAft>
                <a:spcPts val="0"/>
              </a:spcAft>
              <a:buClr>
                <a:srgbClr val="172B4D"/>
              </a:buClr>
              <a:buSzPts val="1100"/>
              <a:buFont typeface="Arial"/>
              <a:buNone/>
            </a:pPr>
            <a:r>
              <a:rPr lang="en-US" sz="1100">
                <a:solidFill>
                  <a:srgbClr val="172B4D"/>
                </a:solidFill>
                <a:latin typeface="Arial"/>
                <a:ea typeface="Arial"/>
                <a:cs typeface="Arial"/>
                <a:sym typeface="Arial"/>
              </a:rPr>
              <a:t>Menor es peor</a:t>
            </a:r>
            <a:endParaRPr sz="1100">
              <a:solidFill>
                <a:schemeClr val="dk1"/>
              </a:solidFill>
              <a:latin typeface="Arial"/>
              <a:ea typeface="Arial"/>
              <a:cs typeface="Arial"/>
              <a:sym typeface="Arial"/>
            </a:endParaRPr>
          </a:p>
        </p:txBody>
      </p:sp>
      <p:sp>
        <p:nvSpPr>
          <p:cNvPr id="160" name="Google Shape;160;p9"/>
          <p:cNvSpPr/>
          <p:nvPr/>
        </p:nvSpPr>
        <p:spPr>
          <a:xfrm>
            <a:off x="0" y="6547104"/>
            <a:ext cx="12191695" cy="310896"/>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 name="Google Shape;161;p9"/>
          <p:cNvSpPr/>
          <p:nvPr/>
        </p:nvSpPr>
        <p:spPr>
          <a:xfrm>
            <a:off x="11384280" y="6601968"/>
            <a:ext cx="32004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8C7D9"/>
              </a:buClr>
              <a:buSzPts val="800"/>
              <a:buFont typeface="Arial"/>
              <a:buNone/>
            </a:pPr>
            <a:r>
              <a:rPr lang="en-US" sz="800">
                <a:solidFill>
                  <a:srgbClr val="B8C7D9"/>
                </a:solidFill>
                <a:latin typeface="Arial"/>
                <a:ea typeface="Arial"/>
                <a:cs typeface="Arial"/>
                <a:sym typeface="Arial"/>
              </a:rPr>
              <a:t>8</a:t>
            </a:r>
            <a:endParaRPr sz="8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0"/>
          <p:cNvSpPr/>
          <p:nvPr/>
        </p:nvSpPr>
        <p:spPr>
          <a:xfrm>
            <a:off x="0" y="-1"/>
            <a:ext cx="12191695" cy="6858001"/>
          </a:xfrm>
          <a:prstGeom prst="rect">
            <a:avLst/>
          </a:prstGeom>
          <a:solidFill>
            <a:srgbClr val="132F4C"/>
          </a:solidFill>
          <a:ln cap="flat" cmpd="sng" w="12700">
            <a:solidFill>
              <a:srgbClr val="132F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7" name="Google Shape;167;p10"/>
          <p:cNvSpPr/>
          <p:nvPr/>
        </p:nvSpPr>
        <p:spPr>
          <a:xfrm>
            <a:off x="4848116" y="2569357"/>
            <a:ext cx="2495461" cy="17192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FAFC"/>
              </a:buClr>
              <a:buSzPts val="11500"/>
              <a:buFont typeface="Arial"/>
              <a:buNone/>
            </a:pPr>
            <a:r>
              <a:rPr b="1" lang="en-US" sz="11500">
                <a:solidFill>
                  <a:srgbClr val="F7FAFC"/>
                </a:solidFill>
                <a:latin typeface="Arial"/>
                <a:ea typeface="Arial"/>
                <a:cs typeface="Arial"/>
                <a:sym typeface="Arial"/>
              </a:rPr>
              <a:t>FIN</a:t>
            </a:r>
            <a:endParaRPr sz="22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2026-07-18T17:42:32Z</dcterms:created>
  <dc:creator>OpenAI</dc:creator>
</cp:coreProperties>
</file>